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Lato" panose="020F0502020204030203" pitchFamily="34" charset="0"/>
      <p:regular r:id="rId16"/>
      <p:bold r:id="rId17"/>
      <p:italic r:id="rId18"/>
      <p:boldItalic r:id="rId19"/>
    </p:embeddedFont>
    <p:embeddedFont>
      <p:font typeface="Poppins" panose="00000500000000000000" pitchFamily="2" charset="0"/>
      <p:regular r:id="rId20"/>
      <p:bold r:id="rId21"/>
      <p:italic r:id="rId22"/>
      <p:boldItalic r:id="rId23"/>
    </p:embeddedFont>
    <p:embeddedFont>
      <p:font typeface="Poppins SemiBold" panose="000007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B00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38" y="58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e17e95b1d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g3e17e95b1d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e17e95b1d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3e17e95b1d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AF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76200"/>
          </a:xfrm>
          <a:prstGeom prst="rect">
            <a:avLst/>
          </a:prstGeom>
          <a:noFill/>
          <a:ln>
            <a:noFill/>
          </a:ln>
        </p:spPr>
      </p:pic>
      <p:sp>
        <p:nvSpPr>
          <p:cNvPr id="85" name="Google Shape;85;p13"/>
          <p:cNvSpPr txBox="1"/>
          <p:nvPr/>
        </p:nvSpPr>
        <p:spPr>
          <a:xfrm>
            <a:off x="495300" y="1699319"/>
            <a:ext cx="11201400" cy="1508521"/>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1" i="0" u="none" strike="noStrike" cap="none" dirty="0">
                <a:solidFill>
                  <a:srgbClr val="6B007B"/>
                </a:solidFill>
                <a:latin typeface="Poppins"/>
                <a:ea typeface="Poppins"/>
                <a:cs typeface="Poppins"/>
                <a:sym typeface="Poppins"/>
              </a:rPr>
              <a:t>HR Workforce</a:t>
            </a:r>
            <a:br>
              <a:rPr lang="en-US" sz="1800" b="0" i="0" u="none" strike="noStrike" cap="none" dirty="0">
                <a:solidFill>
                  <a:schemeClr val="dk1"/>
                </a:solidFill>
                <a:latin typeface="Calibri"/>
                <a:ea typeface="Calibri"/>
                <a:cs typeface="Calibri"/>
                <a:sym typeface="Calibri"/>
              </a:rPr>
            </a:br>
            <a:r>
              <a:rPr lang="en-US" sz="5400" b="1" i="0" u="none" strike="noStrike" cap="none" dirty="0">
                <a:solidFill>
                  <a:srgbClr val="6B007B"/>
                </a:solidFill>
                <a:latin typeface="Poppins"/>
                <a:ea typeface="Poppins"/>
                <a:cs typeface="Poppins"/>
                <a:sym typeface="Poppins"/>
              </a:rPr>
              <a:t> Analytics</a:t>
            </a:r>
            <a:endParaRPr dirty="0"/>
          </a:p>
        </p:txBody>
      </p:sp>
      <p:sp>
        <p:nvSpPr>
          <p:cNvPr id="86" name="Google Shape;86;p13"/>
          <p:cNvSpPr txBox="1"/>
          <p:nvPr/>
        </p:nvSpPr>
        <p:spPr>
          <a:xfrm>
            <a:off x="762000" y="3627141"/>
            <a:ext cx="10668000" cy="32310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444444"/>
                </a:solidFill>
                <a:latin typeface="Lato"/>
                <a:ea typeface="Lato"/>
                <a:cs typeface="Lato"/>
                <a:sym typeface="Lato"/>
              </a:rPr>
              <a:t>Strategic Insights &amp; Data Dashboard</a:t>
            </a:r>
            <a:endParaRPr/>
          </a:p>
        </p:txBody>
      </p:sp>
      <p:sp>
        <p:nvSpPr>
          <p:cNvPr id="87" name="Google Shape;87;p13"/>
          <p:cNvSpPr txBox="1"/>
          <p:nvPr/>
        </p:nvSpPr>
        <p:spPr>
          <a:xfrm>
            <a:off x="762000" y="4663231"/>
            <a:ext cx="10668000" cy="304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6B007B"/>
                </a:solidFill>
                <a:latin typeface="Lato"/>
                <a:ea typeface="Lato"/>
                <a:cs typeface="Lato"/>
                <a:sym typeface="Lato"/>
              </a:rPr>
              <a:t>Prepared by: Kesha Soni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762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711188" y="1874750"/>
            <a:ext cx="11053725" cy="4286250"/>
          </a:xfrm>
          <a:prstGeom prst="rect">
            <a:avLst/>
          </a:prstGeom>
          <a:noFill/>
          <a:ln>
            <a:noFill/>
          </a:ln>
        </p:spPr>
      </p:pic>
      <p:sp>
        <p:nvSpPr>
          <p:cNvPr id="94" name="Google Shape;94;p14"/>
          <p:cNvSpPr txBox="1"/>
          <p:nvPr/>
        </p:nvSpPr>
        <p:spPr>
          <a:xfrm>
            <a:off x="762000" y="571500"/>
            <a:ext cx="112014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6B007B"/>
                </a:solidFill>
                <a:latin typeface="Poppins SemiBold"/>
                <a:ea typeface="Poppins SemiBold"/>
                <a:cs typeface="Poppins SemiBold"/>
                <a:sym typeface="Poppins SemiBold"/>
              </a:rPr>
              <a:t>UNDERSTANDING OUR DATA</a:t>
            </a:r>
            <a:endParaRPr/>
          </a:p>
        </p:txBody>
      </p:sp>
      <p:sp>
        <p:nvSpPr>
          <p:cNvPr id="95" name="Google Shape;95;p14"/>
          <p:cNvSpPr/>
          <p:nvPr/>
        </p:nvSpPr>
        <p:spPr>
          <a:xfrm>
            <a:off x="762000" y="1266825"/>
            <a:ext cx="10668000" cy="28575"/>
          </a:xfrm>
          <a:prstGeom prst="rect">
            <a:avLst/>
          </a:prstGeom>
          <a:solidFill>
            <a:srgbClr val="F3B4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 name="Google Shape;96;p14"/>
          <p:cNvSpPr txBox="1"/>
          <p:nvPr/>
        </p:nvSpPr>
        <p:spPr>
          <a:xfrm>
            <a:off x="1104900" y="2409824"/>
            <a:ext cx="10081123" cy="738664"/>
          </a:xfrm>
          <a:prstGeom prst="rect">
            <a:avLst/>
          </a:prstGeom>
          <a:noFill/>
          <a:ln>
            <a:noFill/>
          </a:ln>
        </p:spPr>
        <p:txBody>
          <a:bodyPr spcFirstLastPara="1" wrap="square" lIns="0" tIns="0" rIns="0" bIns="0" anchor="t" anchorCtr="0">
            <a:spAutoFit/>
          </a:bodyPr>
          <a:lstStyle/>
          <a:p>
            <a:pPr marL="457200" marR="0" lvl="0" indent="-323850" algn="l" rtl="0">
              <a:lnSpc>
                <a:spcPct val="160000"/>
              </a:lnSpc>
              <a:spcBef>
                <a:spcPts val="0"/>
              </a:spcBef>
              <a:spcAft>
                <a:spcPts val="0"/>
              </a:spcAft>
              <a:buSzPts val="1500"/>
              <a:buFont typeface="Lato"/>
              <a:buChar char="●"/>
            </a:pPr>
            <a:r>
              <a:rPr lang="en-US" sz="1500" b="0" i="0" u="none" strike="noStrike" cap="none" dirty="0">
                <a:solidFill>
                  <a:srgbClr val="444444"/>
                </a:solidFill>
                <a:latin typeface="Lato"/>
                <a:ea typeface="Lato"/>
                <a:cs typeface="Lato"/>
                <a:sym typeface="Lato"/>
              </a:rPr>
              <a:t>This analysis is based on our </a:t>
            </a:r>
            <a:r>
              <a:rPr lang="en-US" sz="1500" b="1" i="0" u="none" strike="noStrike" cap="none" dirty="0">
                <a:solidFill>
                  <a:srgbClr val="6B007B"/>
                </a:solidFill>
                <a:latin typeface="Lato"/>
                <a:ea typeface="Lato"/>
                <a:cs typeface="Lato"/>
                <a:sym typeface="Lato"/>
              </a:rPr>
              <a:t>central employee database</a:t>
            </a:r>
            <a:r>
              <a:rPr lang="en-US" sz="1500" b="0" i="0" u="none" strike="noStrike" cap="none" dirty="0">
                <a:solidFill>
                  <a:srgbClr val="444444"/>
                </a:solidFill>
                <a:latin typeface="Lato"/>
                <a:ea typeface="Lato"/>
                <a:cs typeface="Lato"/>
                <a:sym typeface="Lato"/>
              </a:rPr>
              <a:t>, which tracks the professional journey of every individual within our organization.</a:t>
            </a:r>
            <a:endParaRPr dirty="0"/>
          </a:p>
        </p:txBody>
      </p:sp>
      <p:sp>
        <p:nvSpPr>
          <p:cNvPr id="97" name="Google Shape;97;p14"/>
          <p:cNvSpPr txBox="1"/>
          <p:nvPr/>
        </p:nvSpPr>
        <p:spPr>
          <a:xfrm>
            <a:off x="1104900" y="3514724"/>
            <a:ext cx="10265643" cy="738664"/>
          </a:xfrm>
          <a:prstGeom prst="rect">
            <a:avLst/>
          </a:prstGeom>
          <a:noFill/>
          <a:ln>
            <a:noFill/>
          </a:ln>
        </p:spPr>
        <p:txBody>
          <a:bodyPr spcFirstLastPara="1" wrap="square" lIns="0" tIns="0" rIns="0" bIns="0" anchor="t" anchorCtr="0">
            <a:spAutoFit/>
          </a:bodyPr>
          <a:lstStyle/>
          <a:p>
            <a:pPr marL="457200" marR="0" lvl="0" indent="-323850" algn="l" rtl="0">
              <a:lnSpc>
                <a:spcPct val="160000"/>
              </a:lnSpc>
              <a:spcBef>
                <a:spcPts val="0"/>
              </a:spcBef>
              <a:spcAft>
                <a:spcPts val="0"/>
              </a:spcAft>
              <a:buSzPts val="1500"/>
              <a:buFont typeface="Lato"/>
              <a:buChar char="●"/>
            </a:pPr>
            <a:r>
              <a:rPr lang="en-US" sz="1500" b="0" i="0" u="none" strike="noStrike" cap="none" dirty="0">
                <a:solidFill>
                  <a:srgbClr val="444444"/>
                </a:solidFill>
                <a:latin typeface="Lato"/>
                <a:ea typeface="Lato"/>
                <a:cs typeface="Lato"/>
                <a:sym typeface="Lato"/>
              </a:rPr>
              <a:t>The dataset captures critical variables including </a:t>
            </a:r>
            <a:r>
              <a:rPr lang="en-US" sz="1500" b="1" i="0" u="none" strike="noStrike" cap="none" dirty="0">
                <a:solidFill>
                  <a:srgbClr val="6B007B"/>
                </a:solidFill>
                <a:latin typeface="Lato"/>
                <a:ea typeface="Lato"/>
                <a:cs typeface="Lato"/>
                <a:sym typeface="Lato"/>
              </a:rPr>
              <a:t>job functions, department assignments, geographic office locations,</a:t>
            </a:r>
            <a:r>
              <a:rPr lang="en-US" sz="1500" b="0" i="0" u="none" strike="noStrike" cap="none" dirty="0">
                <a:solidFill>
                  <a:srgbClr val="444444"/>
                </a:solidFill>
                <a:latin typeface="Lato"/>
                <a:ea typeface="Lato"/>
                <a:cs typeface="Lato"/>
                <a:sym typeface="Lato"/>
              </a:rPr>
              <a:t> and </a:t>
            </a:r>
            <a:r>
              <a:rPr lang="en-US" sz="1500" b="1" i="0" u="none" strike="noStrike" cap="none" dirty="0">
                <a:solidFill>
                  <a:srgbClr val="6B007B"/>
                </a:solidFill>
                <a:latin typeface="Lato"/>
                <a:ea typeface="Lato"/>
                <a:cs typeface="Lato"/>
                <a:sym typeface="Lato"/>
              </a:rPr>
              <a:t>demographic identity markers</a:t>
            </a:r>
            <a:r>
              <a:rPr lang="en-US" sz="1500" b="0" i="0" u="none" strike="noStrike" cap="none" dirty="0">
                <a:solidFill>
                  <a:srgbClr val="444444"/>
                </a:solidFill>
                <a:latin typeface="Lato"/>
                <a:ea typeface="Lato"/>
                <a:cs typeface="Lato"/>
                <a:sym typeface="Lato"/>
              </a:rPr>
              <a:t>.</a:t>
            </a:r>
            <a:endParaRPr dirty="0"/>
          </a:p>
        </p:txBody>
      </p:sp>
      <p:sp>
        <p:nvSpPr>
          <p:cNvPr id="98" name="Google Shape;98;p14"/>
          <p:cNvSpPr txBox="1"/>
          <p:nvPr/>
        </p:nvSpPr>
        <p:spPr>
          <a:xfrm>
            <a:off x="1104899" y="4619624"/>
            <a:ext cx="10044219" cy="738664"/>
          </a:xfrm>
          <a:prstGeom prst="rect">
            <a:avLst/>
          </a:prstGeom>
          <a:noFill/>
          <a:ln>
            <a:noFill/>
          </a:ln>
        </p:spPr>
        <p:txBody>
          <a:bodyPr spcFirstLastPara="1" wrap="square" lIns="0" tIns="0" rIns="0" bIns="0" anchor="t" anchorCtr="0">
            <a:spAutoFit/>
          </a:bodyPr>
          <a:lstStyle/>
          <a:p>
            <a:pPr marL="457200" marR="0" lvl="0" indent="-323850" algn="l" rtl="0">
              <a:lnSpc>
                <a:spcPct val="160000"/>
              </a:lnSpc>
              <a:spcBef>
                <a:spcPts val="0"/>
              </a:spcBef>
              <a:spcAft>
                <a:spcPts val="0"/>
              </a:spcAft>
              <a:buSzPts val="1500"/>
              <a:buFont typeface="Lato"/>
              <a:buChar char="●"/>
            </a:pPr>
            <a:r>
              <a:rPr lang="en-US" sz="1500" b="0" i="0" u="none" strike="noStrike" cap="none" dirty="0">
                <a:solidFill>
                  <a:srgbClr val="444444"/>
                </a:solidFill>
                <a:latin typeface="Lato"/>
                <a:ea typeface="Lato"/>
                <a:cs typeface="Lato"/>
                <a:sym typeface="Lato"/>
              </a:rPr>
              <a:t>By studying this information, we derive a comprehensive picture of our current workforce structure and evolution, enabling </a:t>
            </a:r>
            <a:r>
              <a:rPr lang="en-US" sz="1500" b="1" i="0" u="none" strike="noStrike" cap="none" dirty="0">
                <a:solidFill>
                  <a:srgbClr val="6B007B"/>
                </a:solidFill>
                <a:latin typeface="Lato"/>
                <a:ea typeface="Lato"/>
                <a:cs typeface="Lato"/>
                <a:sym typeface="Lato"/>
              </a:rPr>
              <a:t>data-driven decisions</a:t>
            </a:r>
            <a:r>
              <a:rPr lang="en-US" sz="1500" b="0" i="0" u="none" strike="noStrike" cap="none" dirty="0">
                <a:solidFill>
                  <a:srgbClr val="444444"/>
                </a:solidFill>
                <a:latin typeface="Lato"/>
                <a:ea typeface="Lato"/>
                <a:cs typeface="Lato"/>
                <a:sym typeface="Lato"/>
              </a:rPr>
              <a:t> for future hiring and talent management.</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2"/>
        <p:cNvGrpSpPr/>
        <p:nvPr/>
      </p:nvGrpSpPr>
      <p:grpSpPr>
        <a:xfrm>
          <a:off x="0" y="0"/>
          <a:ext cx="0" cy="0"/>
          <a:chOff x="0" y="0"/>
          <a:chExt cx="0" cy="0"/>
        </a:xfrm>
      </p:grpSpPr>
      <p:pic>
        <p:nvPicPr>
          <p:cNvPr id="103" name="Google Shape;103;p15" descr="image.png"/>
          <p:cNvPicPr preferRelativeResize="0"/>
          <p:nvPr/>
        </p:nvPicPr>
        <p:blipFill rotWithShape="1">
          <a:blip r:embed="rId3">
            <a:alphaModFix/>
          </a:blip>
          <a:srcRect/>
          <a:stretch/>
        </p:blipFill>
        <p:spPr>
          <a:xfrm>
            <a:off x="0" y="0"/>
            <a:ext cx="12192000" cy="76200"/>
          </a:xfrm>
          <a:prstGeom prst="rect">
            <a:avLst/>
          </a:prstGeom>
          <a:noFill/>
          <a:ln>
            <a:noFill/>
          </a:ln>
        </p:spPr>
      </p:pic>
      <p:pic>
        <p:nvPicPr>
          <p:cNvPr id="104" name="Google Shape;104;p15" descr="image.png"/>
          <p:cNvPicPr preferRelativeResize="0"/>
          <p:nvPr/>
        </p:nvPicPr>
        <p:blipFill rotWithShape="1">
          <a:blip r:embed="rId4">
            <a:alphaModFix/>
          </a:blip>
          <a:srcRect/>
          <a:stretch/>
        </p:blipFill>
        <p:spPr>
          <a:xfrm>
            <a:off x="762000" y="2371725"/>
            <a:ext cx="3365450" cy="3219450"/>
          </a:xfrm>
          <a:prstGeom prst="rect">
            <a:avLst/>
          </a:prstGeom>
          <a:noFill/>
          <a:ln>
            <a:noFill/>
          </a:ln>
        </p:spPr>
      </p:pic>
      <p:pic>
        <p:nvPicPr>
          <p:cNvPr id="105" name="Google Shape;105;p15" descr="image.png"/>
          <p:cNvPicPr preferRelativeResize="0"/>
          <p:nvPr/>
        </p:nvPicPr>
        <p:blipFill rotWithShape="1">
          <a:blip r:embed="rId5">
            <a:alphaModFix/>
          </a:blip>
          <a:srcRect/>
          <a:stretch/>
        </p:blipFill>
        <p:spPr>
          <a:xfrm>
            <a:off x="4413200" y="2371725"/>
            <a:ext cx="3365450" cy="3219450"/>
          </a:xfrm>
          <a:prstGeom prst="rect">
            <a:avLst/>
          </a:prstGeom>
          <a:noFill/>
          <a:ln>
            <a:noFill/>
          </a:ln>
        </p:spPr>
      </p:pic>
      <p:pic>
        <p:nvPicPr>
          <p:cNvPr id="106" name="Google Shape;106;p15" descr="image.png"/>
          <p:cNvPicPr preferRelativeResize="0"/>
          <p:nvPr/>
        </p:nvPicPr>
        <p:blipFill rotWithShape="1">
          <a:blip r:embed="rId6">
            <a:alphaModFix/>
          </a:blip>
          <a:srcRect/>
          <a:stretch/>
        </p:blipFill>
        <p:spPr>
          <a:xfrm>
            <a:off x="8064400" y="2371725"/>
            <a:ext cx="3365450" cy="3219450"/>
          </a:xfrm>
          <a:prstGeom prst="rect">
            <a:avLst/>
          </a:prstGeom>
          <a:noFill/>
          <a:ln>
            <a:noFill/>
          </a:ln>
        </p:spPr>
      </p:pic>
      <p:sp>
        <p:nvSpPr>
          <p:cNvPr id="107" name="Google Shape;107;p15"/>
          <p:cNvSpPr txBox="1"/>
          <p:nvPr/>
        </p:nvSpPr>
        <p:spPr>
          <a:xfrm>
            <a:off x="762000" y="571500"/>
            <a:ext cx="1120140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a:solidFill>
                  <a:srgbClr val="6B007B"/>
                </a:solidFill>
                <a:latin typeface="Poppins SemiBold"/>
                <a:ea typeface="Poppins SemiBold"/>
                <a:cs typeface="Poppins SemiBold"/>
                <a:sym typeface="Poppins SemiBold"/>
              </a:rPr>
              <a:t>STRATEGIC KPIs</a:t>
            </a:r>
            <a:endParaRPr dirty="0"/>
          </a:p>
        </p:txBody>
      </p:sp>
      <p:sp>
        <p:nvSpPr>
          <p:cNvPr id="108" name="Google Shape;108;p15"/>
          <p:cNvSpPr/>
          <p:nvPr/>
        </p:nvSpPr>
        <p:spPr>
          <a:xfrm>
            <a:off x="762000" y="1266825"/>
            <a:ext cx="10668000" cy="28575"/>
          </a:xfrm>
          <a:prstGeom prst="rect">
            <a:avLst/>
          </a:prstGeom>
          <a:solidFill>
            <a:srgbClr val="F3B4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 name="Google Shape;109;p15"/>
          <p:cNvSpPr txBox="1"/>
          <p:nvPr/>
        </p:nvSpPr>
        <p:spPr>
          <a:xfrm>
            <a:off x="987902" y="3571875"/>
            <a:ext cx="2913645"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333333"/>
                </a:solidFill>
                <a:latin typeface="Poppins"/>
                <a:ea typeface="Poppins"/>
                <a:cs typeface="Poppins"/>
                <a:sym typeface="Poppins"/>
              </a:rPr>
              <a:t>Active Headcount</a:t>
            </a:r>
            <a:endParaRPr/>
          </a:p>
        </p:txBody>
      </p:sp>
      <p:sp>
        <p:nvSpPr>
          <p:cNvPr id="110" name="Google Shape;110;p15"/>
          <p:cNvSpPr txBox="1"/>
          <p:nvPr/>
        </p:nvSpPr>
        <p:spPr>
          <a:xfrm>
            <a:off x="1057275" y="4095750"/>
            <a:ext cx="2774900" cy="110799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a:solidFill>
                  <a:srgbClr val="444444"/>
                </a:solidFill>
                <a:latin typeface="Lato"/>
                <a:ea typeface="Lato"/>
                <a:cs typeface="Lato"/>
                <a:sym typeface="Lato"/>
              </a:rPr>
              <a:t>Total volume of active employees driving the organization forward today.</a:t>
            </a:r>
            <a:endParaRPr dirty="0"/>
          </a:p>
        </p:txBody>
      </p:sp>
      <p:sp>
        <p:nvSpPr>
          <p:cNvPr id="111" name="Google Shape;111;p15"/>
          <p:cNvSpPr txBox="1"/>
          <p:nvPr/>
        </p:nvSpPr>
        <p:spPr>
          <a:xfrm>
            <a:off x="4639102" y="3571875"/>
            <a:ext cx="2913645"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333333"/>
                </a:solidFill>
                <a:latin typeface="Poppins"/>
                <a:ea typeface="Poppins"/>
                <a:cs typeface="Poppins"/>
                <a:sym typeface="Poppins"/>
              </a:rPr>
              <a:t>Regional Presence</a:t>
            </a:r>
            <a:endParaRPr/>
          </a:p>
        </p:txBody>
      </p:sp>
      <p:sp>
        <p:nvSpPr>
          <p:cNvPr id="112" name="Google Shape;112;p15"/>
          <p:cNvSpPr txBox="1"/>
          <p:nvPr/>
        </p:nvSpPr>
        <p:spPr>
          <a:xfrm>
            <a:off x="4708475" y="4095750"/>
            <a:ext cx="277490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44444"/>
                </a:solidFill>
                <a:latin typeface="Lato"/>
                <a:ea typeface="Lato"/>
                <a:cs typeface="Lato"/>
                <a:sym typeface="Lato"/>
              </a:rPr>
              <a:t>The geographic spread of our talent across different global office hubs.</a:t>
            </a:r>
            <a:endParaRPr/>
          </a:p>
        </p:txBody>
      </p:sp>
      <p:sp>
        <p:nvSpPr>
          <p:cNvPr id="113" name="Google Shape;113;p15"/>
          <p:cNvSpPr txBox="1"/>
          <p:nvPr/>
        </p:nvSpPr>
        <p:spPr>
          <a:xfrm>
            <a:off x="8290303" y="3571875"/>
            <a:ext cx="2913645"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333333"/>
                </a:solidFill>
                <a:latin typeface="Poppins"/>
                <a:ea typeface="Poppins"/>
                <a:cs typeface="Poppins"/>
                <a:sym typeface="Poppins"/>
              </a:rPr>
              <a:t>Retention Stability</a:t>
            </a:r>
            <a:endParaRPr/>
          </a:p>
        </p:txBody>
      </p:sp>
      <p:sp>
        <p:nvSpPr>
          <p:cNvPr id="114" name="Google Shape;114;p15"/>
          <p:cNvSpPr txBox="1"/>
          <p:nvPr/>
        </p:nvSpPr>
        <p:spPr>
          <a:xfrm>
            <a:off x="8359675" y="4095750"/>
            <a:ext cx="277490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44444"/>
                </a:solidFill>
                <a:latin typeface="Lato"/>
                <a:ea typeface="Lato"/>
                <a:cs typeface="Lato"/>
                <a:sym typeface="Lato"/>
              </a:rPr>
              <a:t>Consistent growth of tenure and loyalty within our core departments.</a:t>
            </a:r>
            <a:endParaRPr/>
          </a:p>
        </p:txBody>
      </p:sp>
      <p:pic>
        <p:nvPicPr>
          <p:cNvPr id="115" name="Google Shape;115;p15" descr="image.png"/>
          <p:cNvPicPr preferRelativeResize="0"/>
          <p:nvPr/>
        </p:nvPicPr>
        <p:blipFill rotWithShape="1">
          <a:blip r:embed="rId7">
            <a:alphaModFix/>
          </a:blip>
          <a:srcRect/>
          <a:stretch/>
        </p:blipFill>
        <p:spPr>
          <a:xfrm>
            <a:off x="2144613" y="2809875"/>
            <a:ext cx="600075" cy="476250"/>
          </a:xfrm>
          <a:prstGeom prst="rect">
            <a:avLst/>
          </a:prstGeom>
          <a:noFill/>
          <a:ln>
            <a:noFill/>
          </a:ln>
        </p:spPr>
      </p:pic>
      <p:pic>
        <p:nvPicPr>
          <p:cNvPr id="116" name="Google Shape;116;p15" descr="image.png"/>
          <p:cNvPicPr preferRelativeResize="0"/>
          <p:nvPr/>
        </p:nvPicPr>
        <p:blipFill rotWithShape="1">
          <a:blip r:embed="rId8">
            <a:alphaModFix/>
          </a:blip>
          <a:srcRect/>
          <a:stretch/>
        </p:blipFill>
        <p:spPr>
          <a:xfrm>
            <a:off x="5857726" y="2809875"/>
            <a:ext cx="476250" cy="476250"/>
          </a:xfrm>
          <a:prstGeom prst="rect">
            <a:avLst/>
          </a:prstGeom>
          <a:noFill/>
          <a:ln>
            <a:noFill/>
          </a:ln>
        </p:spPr>
      </p:pic>
      <p:pic>
        <p:nvPicPr>
          <p:cNvPr id="117" name="Google Shape;117;p15" descr="image.png"/>
          <p:cNvPicPr preferRelativeResize="0"/>
          <p:nvPr/>
        </p:nvPicPr>
        <p:blipFill rotWithShape="1">
          <a:blip r:embed="rId9">
            <a:alphaModFix/>
          </a:blip>
          <a:srcRect/>
          <a:stretch/>
        </p:blipFill>
        <p:spPr>
          <a:xfrm>
            <a:off x="9480351" y="2809875"/>
            <a:ext cx="533400" cy="476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1"/>
        <p:cNvGrpSpPr/>
        <p:nvPr/>
      </p:nvGrpSpPr>
      <p:grpSpPr>
        <a:xfrm>
          <a:off x="0" y="0"/>
          <a:ext cx="0" cy="0"/>
          <a:chOff x="0" y="0"/>
          <a:chExt cx="0" cy="0"/>
        </a:xfrm>
      </p:grpSpPr>
      <p:pic>
        <p:nvPicPr>
          <p:cNvPr id="122" name="Google Shape;122;p16" descr="image.png"/>
          <p:cNvPicPr preferRelativeResize="0"/>
          <p:nvPr/>
        </p:nvPicPr>
        <p:blipFill rotWithShape="1">
          <a:blip r:embed="rId3">
            <a:alphaModFix/>
          </a:blip>
          <a:srcRect/>
          <a:stretch/>
        </p:blipFill>
        <p:spPr>
          <a:xfrm>
            <a:off x="0" y="0"/>
            <a:ext cx="12192000" cy="76200"/>
          </a:xfrm>
          <a:prstGeom prst="rect">
            <a:avLst/>
          </a:prstGeom>
          <a:noFill/>
          <a:ln>
            <a:noFill/>
          </a:ln>
        </p:spPr>
      </p:pic>
      <p:sp>
        <p:nvSpPr>
          <p:cNvPr id="123" name="Google Shape;123;p16"/>
          <p:cNvSpPr/>
          <p:nvPr/>
        </p:nvSpPr>
        <p:spPr>
          <a:xfrm>
            <a:off x="529550" y="787275"/>
            <a:ext cx="10668000" cy="28500"/>
          </a:xfrm>
          <a:prstGeom prst="rect">
            <a:avLst/>
          </a:prstGeom>
          <a:solidFill>
            <a:srgbClr val="F3B4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6"/>
          <p:cNvSpPr txBox="1"/>
          <p:nvPr/>
        </p:nvSpPr>
        <p:spPr>
          <a:xfrm>
            <a:off x="529550" y="117675"/>
            <a:ext cx="11704500" cy="6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150">
                <a:solidFill>
                  <a:srgbClr val="6B007B"/>
                </a:solidFill>
                <a:latin typeface="Poppins SemiBold"/>
                <a:ea typeface="Poppins SemiBold"/>
                <a:cs typeface="Poppins SemiBold"/>
                <a:sym typeface="Poppins SemiBold"/>
              </a:rPr>
              <a:t>WORKFORCE OVERVIEW</a:t>
            </a:r>
            <a:endParaRPr/>
          </a:p>
        </p:txBody>
      </p:sp>
      <p:pic>
        <p:nvPicPr>
          <p:cNvPr id="125" name="Google Shape;125;p16" title="page1.jpg"/>
          <p:cNvPicPr preferRelativeResize="0"/>
          <p:nvPr/>
        </p:nvPicPr>
        <p:blipFill>
          <a:blip r:embed="rId4">
            <a:alphaModFix/>
          </a:blip>
          <a:stretch>
            <a:fillRect/>
          </a:stretch>
        </p:blipFill>
        <p:spPr>
          <a:xfrm>
            <a:off x="75551" y="692726"/>
            <a:ext cx="12116449" cy="61652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pic>
        <p:nvPicPr>
          <p:cNvPr id="130" name="Google Shape;130;p17" descr="image.png"/>
          <p:cNvPicPr preferRelativeResize="0"/>
          <p:nvPr/>
        </p:nvPicPr>
        <p:blipFill rotWithShape="1">
          <a:blip r:embed="rId3">
            <a:alphaModFix/>
          </a:blip>
          <a:srcRect/>
          <a:stretch/>
        </p:blipFill>
        <p:spPr>
          <a:xfrm>
            <a:off x="0" y="0"/>
            <a:ext cx="12192000" cy="76200"/>
          </a:xfrm>
          <a:prstGeom prst="rect">
            <a:avLst/>
          </a:prstGeom>
          <a:noFill/>
          <a:ln>
            <a:noFill/>
          </a:ln>
        </p:spPr>
      </p:pic>
      <p:sp>
        <p:nvSpPr>
          <p:cNvPr id="131" name="Google Shape;131;p17"/>
          <p:cNvSpPr txBox="1"/>
          <p:nvPr/>
        </p:nvSpPr>
        <p:spPr>
          <a:xfrm>
            <a:off x="683525" y="186713"/>
            <a:ext cx="11201400" cy="969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US" sz="3150">
                <a:solidFill>
                  <a:srgbClr val="6B007B"/>
                </a:solidFill>
                <a:latin typeface="Poppins SemiBold"/>
                <a:ea typeface="Poppins SemiBold"/>
                <a:cs typeface="Poppins SemiBold"/>
                <a:sym typeface="Poppins SemiBold"/>
              </a:rPr>
              <a:t>DEMOGRAPHICS</a:t>
            </a:r>
            <a:endParaRPr>
              <a:solidFill>
                <a:schemeClr val="dk1"/>
              </a:solidFill>
            </a:endParaRPr>
          </a:p>
          <a:p>
            <a:pPr marL="0" marR="0" lvl="0" indent="0" algn="l" rtl="0">
              <a:spcBef>
                <a:spcPts val="0"/>
              </a:spcBef>
              <a:spcAft>
                <a:spcPts val="0"/>
              </a:spcAft>
              <a:buNone/>
            </a:pPr>
            <a:endParaRPr sz="3150">
              <a:solidFill>
                <a:srgbClr val="6B007B"/>
              </a:solidFill>
              <a:latin typeface="Poppins SemiBold"/>
              <a:ea typeface="Poppins SemiBold"/>
              <a:cs typeface="Poppins SemiBold"/>
              <a:sym typeface="Poppins SemiBold"/>
            </a:endParaRPr>
          </a:p>
        </p:txBody>
      </p:sp>
      <p:sp>
        <p:nvSpPr>
          <p:cNvPr id="132" name="Google Shape;132;p17"/>
          <p:cNvSpPr/>
          <p:nvPr/>
        </p:nvSpPr>
        <p:spPr>
          <a:xfrm>
            <a:off x="762000" y="1266825"/>
            <a:ext cx="10668000" cy="28500"/>
          </a:xfrm>
          <a:prstGeom prst="rect">
            <a:avLst/>
          </a:prstGeom>
          <a:solidFill>
            <a:srgbClr val="F3B4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3" name="Google Shape;133;p17" title="page2.jpg"/>
          <p:cNvPicPr preferRelativeResize="0"/>
          <p:nvPr/>
        </p:nvPicPr>
        <p:blipFill>
          <a:blip r:embed="rId4">
            <a:alphaModFix/>
          </a:blip>
          <a:stretch>
            <a:fillRect/>
          </a:stretch>
        </p:blipFill>
        <p:spPr>
          <a:xfrm>
            <a:off x="61025" y="806335"/>
            <a:ext cx="11967491" cy="59934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p:cNvGrpSpPr/>
        <p:nvPr/>
      </p:nvGrpSpPr>
      <p:grpSpPr>
        <a:xfrm>
          <a:off x="0" y="0"/>
          <a:ext cx="0" cy="0"/>
          <a:chOff x="0" y="0"/>
          <a:chExt cx="0" cy="0"/>
        </a:xfrm>
      </p:grpSpPr>
      <p:pic>
        <p:nvPicPr>
          <p:cNvPr id="138" name="Google Shape;138;p18" descr="image.png"/>
          <p:cNvPicPr preferRelativeResize="0"/>
          <p:nvPr/>
        </p:nvPicPr>
        <p:blipFill rotWithShape="1">
          <a:blip r:embed="rId3">
            <a:alphaModFix/>
          </a:blip>
          <a:srcRect/>
          <a:stretch/>
        </p:blipFill>
        <p:spPr>
          <a:xfrm>
            <a:off x="0" y="0"/>
            <a:ext cx="12192000" cy="76200"/>
          </a:xfrm>
          <a:prstGeom prst="rect">
            <a:avLst/>
          </a:prstGeom>
          <a:noFill/>
          <a:ln>
            <a:noFill/>
          </a:ln>
        </p:spPr>
      </p:pic>
      <p:pic>
        <p:nvPicPr>
          <p:cNvPr id="139" name="Google Shape;139;p18" descr="image.png"/>
          <p:cNvPicPr preferRelativeResize="0"/>
          <p:nvPr/>
        </p:nvPicPr>
        <p:blipFill rotWithShape="1">
          <a:blip r:embed="rId4">
            <a:alphaModFix/>
          </a:blip>
          <a:srcRect/>
          <a:stretch/>
        </p:blipFill>
        <p:spPr>
          <a:xfrm>
            <a:off x="2533650" y="2162175"/>
            <a:ext cx="7124700" cy="3638550"/>
          </a:xfrm>
          <a:prstGeom prst="rect">
            <a:avLst/>
          </a:prstGeom>
          <a:noFill/>
          <a:ln>
            <a:noFill/>
          </a:ln>
        </p:spPr>
      </p:pic>
      <p:sp>
        <p:nvSpPr>
          <p:cNvPr id="140" name="Google Shape;140;p18"/>
          <p:cNvSpPr txBox="1"/>
          <p:nvPr/>
        </p:nvSpPr>
        <p:spPr>
          <a:xfrm>
            <a:off x="762000" y="571500"/>
            <a:ext cx="112014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6B007B"/>
                </a:solidFill>
                <a:latin typeface="Poppins SemiBold"/>
                <a:ea typeface="Poppins SemiBold"/>
                <a:cs typeface="Poppins SemiBold"/>
                <a:sym typeface="Poppins SemiBold"/>
              </a:rPr>
              <a:t>PRESENTATION OUTLINE</a:t>
            </a:r>
            <a:endParaRPr/>
          </a:p>
        </p:txBody>
      </p:sp>
      <p:sp>
        <p:nvSpPr>
          <p:cNvPr id="141" name="Google Shape;141;p18"/>
          <p:cNvSpPr/>
          <p:nvPr/>
        </p:nvSpPr>
        <p:spPr>
          <a:xfrm>
            <a:off x="762000" y="1266825"/>
            <a:ext cx="10668000" cy="28575"/>
          </a:xfrm>
          <a:prstGeom prst="rect">
            <a:avLst/>
          </a:prstGeom>
          <a:solidFill>
            <a:srgbClr val="F3B4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18"/>
          <p:cNvSpPr txBox="1"/>
          <p:nvPr/>
        </p:nvSpPr>
        <p:spPr>
          <a:xfrm>
            <a:off x="2876550" y="2638425"/>
            <a:ext cx="64960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6B007B"/>
                </a:solidFill>
                <a:latin typeface="Lato"/>
                <a:ea typeface="Lato"/>
                <a:cs typeface="Lato"/>
                <a:sym typeface="Lato"/>
              </a:rPr>
              <a:t>1 Introduction to Data Scope:</a:t>
            </a:r>
            <a:r>
              <a:rPr lang="en-US" sz="1500" b="0" i="0" u="none" strike="noStrike" cap="none" dirty="0">
                <a:solidFill>
                  <a:srgbClr val="444444"/>
                </a:solidFill>
                <a:latin typeface="Lato"/>
                <a:ea typeface="Lato"/>
                <a:cs typeface="Lato"/>
                <a:sym typeface="Lato"/>
              </a:rPr>
              <a:t> Overview of dataset and objectives.</a:t>
            </a:r>
            <a:endParaRPr dirty="0"/>
          </a:p>
        </p:txBody>
      </p:sp>
      <p:sp>
        <p:nvSpPr>
          <p:cNvPr id="143" name="Google Shape;143;p18"/>
          <p:cNvSpPr txBox="1"/>
          <p:nvPr/>
        </p:nvSpPr>
        <p:spPr>
          <a:xfrm>
            <a:off x="2876550" y="3133725"/>
            <a:ext cx="64960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6B007B"/>
                </a:solidFill>
                <a:latin typeface="Lato"/>
                <a:ea typeface="Lato"/>
                <a:cs typeface="Lato"/>
                <a:sym typeface="Lato"/>
              </a:rPr>
              <a:t>2 Key Strategic Metrics:</a:t>
            </a:r>
            <a:r>
              <a:rPr lang="en-US" sz="1500" b="0" i="0" u="none" strike="noStrike" cap="none" dirty="0">
                <a:solidFill>
                  <a:srgbClr val="444444"/>
                </a:solidFill>
                <a:latin typeface="Lato"/>
                <a:ea typeface="Lato"/>
                <a:cs typeface="Lato"/>
                <a:sym typeface="Lato"/>
              </a:rPr>
              <a:t> Essential performance indicators for HR.</a:t>
            </a:r>
            <a:endParaRPr dirty="0"/>
          </a:p>
        </p:txBody>
      </p:sp>
      <p:sp>
        <p:nvSpPr>
          <p:cNvPr id="144" name="Google Shape;144;p18"/>
          <p:cNvSpPr txBox="1"/>
          <p:nvPr/>
        </p:nvSpPr>
        <p:spPr>
          <a:xfrm>
            <a:off x="2876550" y="3629025"/>
            <a:ext cx="6702098"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6B007B"/>
                </a:solidFill>
                <a:latin typeface="Lato"/>
                <a:ea typeface="Lato"/>
                <a:cs typeface="Lato"/>
                <a:sym typeface="Lato"/>
              </a:rPr>
              <a:t>3 Departmental Growth Analysis:</a:t>
            </a:r>
            <a:r>
              <a:rPr lang="en-US" sz="1500" b="0" i="0" u="none" strike="noStrike" cap="none" dirty="0">
                <a:solidFill>
                  <a:srgbClr val="444444"/>
                </a:solidFill>
                <a:latin typeface="Lato"/>
                <a:ea typeface="Lato"/>
                <a:cs typeface="Lato"/>
                <a:sym typeface="Lato"/>
              </a:rPr>
              <a:t> Vertical scaling and functional distribution.</a:t>
            </a:r>
            <a:endParaRPr dirty="0"/>
          </a:p>
        </p:txBody>
      </p:sp>
      <p:sp>
        <p:nvSpPr>
          <p:cNvPr id="145" name="Google Shape;145;p18"/>
          <p:cNvSpPr txBox="1"/>
          <p:nvPr/>
        </p:nvSpPr>
        <p:spPr>
          <a:xfrm>
            <a:off x="2876550" y="4124325"/>
            <a:ext cx="6702098"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6B007B"/>
                </a:solidFill>
                <a:latin typeface="Lato"/>
                <a:ea typeface="Lato"/>
                <a:cs typeface="Lato"/>
                <a:sym typeface="Lato"/>
              </a:rPr>
              <a:t>4 Diversity &amp; Demographic Insights:</a:t>
            </a:r>
            <a:r>
              <a:rPr lang="en-US" sz="1500" b="0" i="0" u="none" strike="noStrike" cap="none" dirty="0">
                <a:solidFill>
                  <a:srgbClr val="444444"/>
                </a:solidFill>
                <a:latin typeface="Lato"/>
                <a:ea typeface="Lato"/>
                <a:cs typeface="Lato"/>
                <a:sym typeface="Lato"/>
              </a:rPr>
              <a:t> Gender and racial representation trends.</a:t>
            </a:r>
            <a:endParaRPr dirty="0"/>
          </a:p>
        </p:txBody>
      </p:sp>
      <p:sp>
        <p:nvSpPr>
          <p:cNvPr id="146" name="Google Shape;146;p18"/>
          <p:cNvSpPr txBox="1"/>
          <p:nvPr/>
        </p:nvSpPr>
        <p:spPr>
          <a:xfrm>
            <a:off x="2876550" y="4619625"/>
            <a:ext cx="6702098"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6B007B"/>
                </a:solidFill>
                <a:latin typeface="Lato"/>
                <a:ea typeface="Lato"/>
                <a:cs typeface="Lato"/>
                <a:sym typeface="Lato"/>
              </a:rPr>
              <a:t>5 Recruitment &amp; Retention Trends:</a:t>
            </a:r>
            <a:r>
              <a:rPr lang="en-US" sz="1500" b="0" i="0" u="none" strike="noStrike" cap="none" dirty="0">
                <a:solidFill>
                  <a:srgbClr val="444444"/>
                </a:solidFill>
                <a:latin typeface="Lato"/>
                <a:ea typeface="Lato"/>
                <a:cs typeface="Lato"/>
                <a:sym typeface="Lato"/>
              </a:rPr>
              <a:t> Historical growth and future projections.</a:t>
            </a:r>
            <a:endParaRPr dirty="0"/>
          </a:p>
        </p:txBody>
      </p:sp>
      <p:sp>
        <p:nvSpPr>
          <p:cNvPr id="147" name="Google Shape;147;p18"/>
          <p:cNvSpPr txBox="1"/>
          <p:nvPr/>
        </p:nvSpPr>
        <p:spPr>
          <a:xfrm>
            <a:off x="2876550" y="5114925"/>
            <a:ext cx="649605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6B007B"/>
                </a:solidFill>
                <a:latin typeface="Lato"/>
                <a:ea typeface="Lato"/>
                <a:cs typeface="Lato"/>
                <a:sym typeface="Lato"/>
              </a:rPr>
              <a:t>6 Roadmap &amp; Tool Overview:</a:t>
            </a:r>
            <a:r>
              <a:rPr lang="en-US" sz="1500" b="0" i="0" u="none" strike="noStrike" cap="none" dirty="0">
                <a:solidFill>
                  <a:srgbClr val="444444"/>
                </a:solidFill>
                <a:latin typeface="Lato"/>
                <a:ea typeface="Lato"/>
                <a:cs typeface="Lato"/>
                <a:sym typeface="Lato"/>
              </a:rPr>
              <a:t> Analytical stack and next strategic steps.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pic>
        <p:nvPicPr>
          <p:cNvPr id="152" name="Google Shape;152;p19" descr="image.png"/>
          <p:cNvPicPr preferRelativeResize="0"/>
          <p:nvPr/>
        </p:nvPicPr>
        <p:blipFill rotWithShape="1">
          <a:blip r:embed="rId3">
            <a:alphaModFix/>
          </a:blip>
          <a:srcRect/>
          <a:stretch/>
        </p:blipFill>
        <p:spPr>
          <a:xfrm>
            <a:off x="0" y="0"/>
            <a:ext cx="12192000" cy="76200"/>
          </a:xfrm>
          <a:prstGeom prst="rect">
            <a:avLst/>
          </a:prstGeom>
          <a:noFill/>
          <a:ln>
            <a:noFill/>
          </a:ln>
        </p:spPr>
      </p:pic>
      <p:pic>
        <p:nvPicPr>
          <p:cNvPr id="153" name="Google Shape;153;p19" descr="image.png"/>
          <p:cNvPicPr preferRelativeResize="0"/>
          <p:nvPr/>
        </p:nvPicPr>
        <p:blipFill rotWithShape="1">
          <a:blip r:embed="rId4">
            <a:alphaModFix/>
          </a:blip>
          <a:srcRect/>
          <a:stretch/>
        </p:blipFill>
        <p:spPr>
          <a:xfrm>
            <a:off x="762000" y="1676400"/>
            <a:ext cx="10668000" cy="4610100"/>
          </a:xfrm>
          <a:prstGeom prst="rect">
            <a:avLst/>
          </a:prstGeom>
          <a:noFill/>
          <a:ln>
            <a:noFill/>
          </a:ln>
        </p:spPr>
      </p:pic>
      <p:pic>
        <p:nvPicPr>
          <p:cNvPr id="154" name="Google Shape;154;p19" descr="image.png"/>
          <p:cNvPicPr preferRelativeResize="0"/>
          <p:nvPr/>
        </p:nvPicPr>
        <p:blipFill rotWithShape="1">
          <a:blip r:embed="rId5">
            <a:alphaModFix/>
          </a:blip>
          <a:srcRect/>
          <a:stretch/>
        </p:blipFill>
        <p:spPr>
          <a:xfrm>
            <a:off x="762000" y="4405312"/>
            <a:ext cx="10668000" cy="1771650"/>
          </a:xfrm>
          <a:prstGeom prst="rect">
            <a:avLst/>
          </a:prstGeom>
          <a:noFill/>
          <a:ln>
            <a:noFill/>
          </a:ln>
        </p:spPr>
      </p:pic>
      <p:sp>
        <p:nvSpPr>
          <p:cNvPr id="155" name="Google Shape;155;p19"/>
          <p:cNvSpPr txBox="1"/>
          <p:nvPr/>
        </p:nvSpPr>
        <p:spPr>
          <a:xfrm>
            <a:off x="762000" y="571500"/>
            <a:ext cx="112014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6B007B"/>
                </a:solidFill>
                <a:latin typeface="Poppins SemiBold"/>
                <a:ea typeface="Poppins SemiBold"/>
                <a:cs typeface="Poppins SemiBold"/>
                <a:sym typeface="Poppins SemiBold"/>
              </a:rPr>
              <a:t>DEPARTMENT COMPARISON</a:t>
            </a:r>
            <a:endParaRPr/>
          </a:p>
        </p:txBody>
      </p:sp>
      <p:sp>
        <p:nvSpPr>
          <p:cNvPr id="156" name="Google Shape;156;p19"/>
          <p:cNvSpPr/>
          <p:nvPr/>
        </p:nvSpPr>
        <p:spPr>
          <a:xfrm>
            <a:off x="762000" y="1266825"/>
            <a:ext cx="10668000" cy="28575"/>
          </a:xfrm>
          <a:prstGeom prst="rect">
            <a:avLst/>
          </a:prstGeom>
          <a:solidFill>
            <a:srgbClr val="F3B4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9"/>
          <p:cNvSpPr txBox="1"/>
          <p:nvPr/>
        </p:nvSpPr>
        <p:spPr>
          <a:xfrm>
            <a:off x="1076324" y="4490863"/>
            <a:ext cx="10170795"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6B007B"/>
                </a:solidFill>
                <a:latin typeface="Lato"/>
                <a:ea typeface="Lato"/>
                <a:cs typeface="Lato"/>
                <a:sym typeface="Lato"/>
              </a:rPr>
              <a:t>Summary:</a:t>
            </a:r>
            <a:r>
              <a:rPr lang="en-US" sz="1500" b="0" i="0" u="none" strike="noStrike" cap="none" dirty="0">
                <a:solidFill>
                  <a:srgbClr val="444444"/>
                </a:solidFill>
                <a:latin typeface="Lato"/>
                <a:ea typeface="Lato"/>
                <a:cs typeface="Lato"/>
                <a:sym typeface="Lato"/>
              </a:rPr>
              <a:t> Engineering remains the largest functional vertical, accounting for nearly 35% of the total workforce. This heavy technical weighting aligns with our position as a product-led organization. Overall, Engineering and Services form the backbone of our workforce volume, representing over 60% of total staff.</a:t>
            </a:r>
            <a:endParaRPr dirty="0"/>
          </a:p>
        </p:txBody>
      </p:sp>
      <p:sp>
        <p:nvSpPr>
          <p:cNvPr id="2" name="TextBox 1">
            <a:extLst>
              <a:ext uri="{FF2B5EF4-FFF2-40B4-BE49-F238E27FC236}">
                <a16:creationId xmlns:a16="http://schemas.microsoft.com/office/drawing/2014/main" id="{7634548F-DCED-0E37-17BA-33ED9B991052}"/>
              </a:ext>
            </a:extLst>
          </p:cNvPr>
          <p:cNvSpPr txBox="1"/>
          <p:nvPr/>
        </p:nvSpPr>
        <p:spPr>
          <a:xfrm>
            <a:off x="10461051" y="1823467"/>
            <a:ext cx="705853" cy="338554"/>
          </a:xfrm>
          <a:prstGeom prst="rect">
            <a:avLst/>
          </a:prstGeom>
          <a:noFill/>
        </p:spPr>
        <p:txBody>
          <a:bodyPr wrap="square" rtlCol="0">
            <a:spAutoFit/>
          </a:bodyPr>
          <a:lstStyle/>
          <a:p>
            <a:r>
              <a:rPr lang="en-US" sz="1600" b="1" dirty="0">
                <a:solidFill>
                  <a:srgbClr val="6B007B"/>
                </a:solidFill>
              </a:rPr>
              <a:t>6310</a:t>
            </a:r>
            <a:endParaRPr lang="en-IN" sz="1600" b="1" dirty="0">
              <a:solidFill>
                <a:srgbClr val="6B007B"/>
              </a:solidFill>
            </a:endParaRPr>
          </a:p>
        </p:txBody>
      </p:sp>
      <p:sp>
        <p:nvSpPr>
          <p:cNvPr id="4" name="TextBox 3">
            <a:extLst>
              <a:ext uri="{FF2B5EF4-FFF2-40B4-BE49-F238E27FC236}">
                <a16:creationId xmlns:a16="http://schemas.microsoft.com/office/drawing/2014/main" id="{C071AB7D-A8E9-059D-B104-9D6BD068B88D}"/>
              </a:ext>
            </a:extLst>
          </p:cNvPr>
          <p:cNvSpPr txBox="1"/>
          <p:nvPr/>
        </p:nvSpPr>
        <p:spPr>
          <a:xfrm>
            <a:off x="10461052" y="2283641"/>
            <a:ext cx="705853" cy="369332"/>
          </a:xfrm>
          <a:prstGeom prst="rect">
            <a:avLst/>
          </a:prstGeom>
          <a:noFill/>
        </p:spPr>
        <p:txBody>
          <a:bodyPr wrap="square" rtlCol="0">
            <a:spAutoFit/>
          </a:bodyPr>
          <a:lstStyle/>
          <a:p>
            <a:r>
              <a:rPr lang="en-US" sz="1800" b="1" dirty="0">
                <a:solidFill>
                  <a:srgbClr val="6B007B"/>
                </a:solidFill>
              </a:rPr>
              <a:t>1939</a:t>
            </a:r>
            <a:endParaRPr lang="en-IN" sz="1800" b="1" dirty="0">
              <a:solidFill>
                <a:srgbClr val="6B007B"/>
              </a:solidFill>
            </a:endParaRPr>
          </a:p>
        </p:txBody>
      </p:sp>
      <p:sp>
        <p:nvSpPr>
          <p:cNvPr id="5" name="TextBox 4">
            <a:extLst>
              <a:ext uri="{FF2B5EF4-FFF2-40B4-BE49-F238E27FC236}">
                <a16:creationId xmlns:a16="http://schemas.microsoft.com/office/drawing/2014/main" id="{11140B1D-F421-4B00-97E6-D88DBCAD19E6}"/>
              </a:ext>
            </a:extLst>
          </p:cNvPr>
          <p:cNvSpPr txBox="1"/>
          <p:nvPr/>
        </p:nvSpPr>
        <p:spPr>
          <a:xfrm>
            <a:off x="10461053" y="2752971"/>
            <a:ext cx="705853" cy="369332"/>
          </a:xfrm>
          <a:prstGeom prst="rect">
            <a:avLst/>
          </a:prstGeom>
          <a:noFill/>
        </p:spPr>
        <p:txBody>
          <a:bodyPr wrap="square" rtlCol="0">
            <a:spAutoFit/>
          </a:bodyPr>
          <a:lstStyle/>
          <a:p>
            <a:r>
              <a:rPr lang="en-US" sz="1800" b="1" dirty="0">
                <a:solidFill>
                  <a:srgbClr val="6B007B"/>
                </a:solidFill>
              </a:rPr>
              <a:t>1607</a:t>
            </a:r>
            <a:endParaRPr lang="en-IN" sz="1800" b="1" dirty="0">
              <a:solidFill>
                <a:srgbClr val="6B007B"/>
              </a:solidFill>
            </a:endParaRPr>
          </a:p>
        </p:txBody>
      </p:sp>
      <p:sp>
        <p:nvSpPr>
          <p:cNvPr id="6" name="TextBox 5">
            <a:extLst>
              <a:ext uri="{FF2B5EF4-FFF2-40B4-BE49-F238E27FC236}">
                <a16:creationId xmlns:a16="http://schemas.microsoft.com/office/drawing/2014/main" id="{46197E4E-5E60-F895-E4A3-99F74BE3FBCB}"/>
              </a:ext>
            </a:extLst>
          </p:cNvPr>
          <p:cNvSpPr txBox="1"/>
          <p:nvPr/>
        </p:nvSpPr>
        <p:spPr>
          <a:xfrm>
            <a:off x="10461054" y="3249105"/>
            <a:ext cx="705853" cy="338554"/>
          </a:xfrm>
          <a:prstGeom prst="rect">
            <a:avLst/>
          </a:prstGeom>
          <a:noFill/>
        </p:spPr>
        <p:txBody>
          <a:bodyPr wrap="square" rtlCol="0">
            <a:spAutoFit/>
          </a:bodyPr>
          <a:lstStyle/>
          <a:p>
            <a:r>
              <a:rPr lang="en-US" sz="1600" b="1" dirty="0">
                <a:solidFill>
                  <a:srgbClr val="6B007B"/>
                </a:solidFill>
              </a:rPr>
              <a:t>1440</a:t>
            </a:r>
            <a:endParaRPr lang="en-IN" sz="1600" b="1" dirty="0">
              <a:solidFill>
                <a:srgbClr val="6B007B"/>
              </a:solidFill>
            </a:endParaRPr>
          </a:p>
        </p:txBody>
      </p:sp>
      <p:sp>
        <p:nvSpPr>
          <p:cNvPr id="7" name="TextBox 6">
            <a:extLst>
              <a:ext uri="{FF2B5EF4-FFF2-40B4-BE49-F238E27FC236}">
                <a16:creationId xmlns:a16="http://schemas.microsoft.com/office/drawing/2014/main" id="{72DBDF7C-6047-E62F-511C-69F2F1994F6D}"/>
              </a:ext>
            </a:extLst>
          </p:cNvPr>
          <p:cNvSpPr txBox="1"/>
          <p:nvPr/>
        </p:nvSpPr>
        <p:spPr>
          <a:xfrm>
            <a:off x="10461055" y="3673320"/>
            <a:ext cx="705853" cy="369332"/>
          </a:xfrm>
          <a:prstGeom prst="rect">
            <a:avLst/>
          </a:prstGeom>
          <a:noFill/>
        </p:spPr>
        <p:txBody>
          <a:bodyPr wrap="square" rtlCol="0">
            <a:spAutoFit/>
          </a:bodyPr>
          <a:lstStyle/>
          <a:p>
            <a:r>
              <a:rPr lang="en-US" sz="1800" b="1" dirty="0">
                <a:solidFill>
                  <a:srgbClr val="6B007B"/>
                </a:solidFill>
              </a:rPr>
              <a:t>1348</a:t>
            </a:r>
            <a:endParaRPr lang="en-IN" sz="1800" b="1" dirty="0">
              <a:solidFill>
                <a:srgbClr val="6B007B"/>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1"/>
        <p:cNvGrpSpPr/>
        <p:nvPr/>
      </p:nvGrpSpPr>
      <p:grpSpPr>
        <a:xfrm>
          <a:off x="0" y="0"/>
          <a:ext cx="0" cy="0"/>
          <a:chOff x="0" y="0"/>
          <a:chExt cx="0" cy="0"/>
        </a:xfrm>
      </p:grpSpPr>
      <p:pic>
        <p:nvPicPr>
          <p:cNvPr id="162" name="Google Shape;162;p20" descr="image.png"/>
          <p:cNvPicPr preferRelativeResize="0"/>
          <p:nvPr/>
        </p:nvPicPr>
        <p:blipFill rotWithShape="1">
          <a:blip r:embed="rId3">
            <a:alphaModFix/>
          </a:blip>
          <a:srcRect/>
          <a:stretch/>
        </p:blipFill>
        <p:spPr>
          <a:xfrm>
            <a:off x="0" y="0"/>
            <a:ext cx="12192000" cy="76200"/>
          </a:xfrm>
          <a:prstGeom prst="rect">
            <a:avLst/>
          </a:prstGeom>
          <a:noFill/>
          <a:ln>
            <a:noFill/>
          </a:ln>
        </p:spPr>
      </p:pic>
      <p:pic>
        <p:nvPicPr>
          <p:cNvPr id="163" name="Google Shape;163;p20" descr="image.png"/>
          <p:cNvPicPr preferRelativeResize="0"/>
          <p:nvPr/>
        </p:nvPicPr>
        <p:blipFill rotWithShape="1">
          <a:blip r:embed="rId4">
            <a:alphaModFix/>
          </a:blip>
          <a:srcRect/>
          <a:stretch/>
        </p:blipFill>
        <p:spPr>
          <a:xfrm>
            <a:off x="762000" y="1885950"/>
            <a:ext cx="10668000" cy="4191000"/>
          </a:xfrm>
          <a:prstGeom prst="rect">
            <a:avLst/>
          </a:prstGeom>
          <a:noFill/>
          <a:ln>
            <a:noFill/>
          </a:ln>
        </p:spPr>
      </p:pic>
      <p:pic>
        <p:nvPicPr>
          <p:cNvPr id="164" name="Google Shape;164;p20" descr="image.png"/>
          <p:cNvPicPr preferRelativeResize="0"/>
          <p:nvPr/>
        </p:nvPicPr>
        <p:blipFill rotWithShape="1">
          <a:blip r:embed="rId5">
            <a:alphaModFix/>
          </a:blip>
          <a:srcRect/>
          <a:stretch/>
        </p:blipFill>
        <p:spPr>
          <a:xfrm>
            <a:off x="5694947" y="1695450"/>
            <a:ext cx="6128085" cy="4591050"/>
          </a:xfrm>
          <a:prstGeom prst="rect">
            <a:avLst/>
          </a:prstGeom>
          <a:noFill/>
          <a:ln>
            <a:noFill/>
          </a:ln>
        </p:spPr>
      </p:pic>
      <p:sp>
        <p:nvSpPr>
          <p:cNvPr id="165" name="Google Shape;165;p20"/>
          <p:cNvSpPr txBox="1"/>
          <p:nvPr/>
        </p:nvSpPr>
        <p:spPr>
          <a:xfrm>
            <a:off x="762000" y="571500"/>
            <a:ext cx="112014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6B007B"/>
                </a:solidFill>
                <a:latin typeface="Poppins SemiBold"/>
                <a:ea typeface="Poppins SemiBold"/>
                <a:cs typeface="Poppins SemiBold"/>
                <a:sym typeface="Poppins SemiBold"/>
              </a:rPr>
              <a:t>GENDER DIVERSITY BREAKDOWN</a:t>
            </a:r>
            <a:endParaRPr/>
          </a:p>
        </p:txBody>
      </p:sp>
      <p:sp>
        <p:nvSpPr>
          <p:cNvPr id="166" name="Google Shape;166;p20"/>
          <p:cNvSpPr/>
          <p:nvPr/>
        </p:nvSpPr>
        <p:spPr>
          <a:xfrm>
            <a:off x="762000" y="1266825"/>
            <a:ext cx="10668000" cy="28575"/>
          </a:xfrm>
          <a:prstGeom prst="rect">
            <a:avLst/>
          </a:prstGeom>
          <a:solidFill>
            <a:srgbClr val="F3B4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20"/>
          <p:cNvSpPr txBox="1"/>
          <p:nvPr/>
        </p:nvSpPr>
        <p:spPr>
          <a:xfrm>
            <a:off x="6096000" y="3057525"/>
            <a:ext cx="5334000" cy="221599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6B007B"/>
                </a:solidFill>
                <a:latin typeface="Lato"/>
                <a:ea typeface="Lato"/>
                <a:cs typeface="Lato"/>
                <a:sym typeface="Lato"/>
              </a:rPr>
              <a:t>Summary:</a:t>
            </a:r>
            <a:r>
              <a:rPr lang="en-US" sz="1500" b="0" i="0" u="none" strike="noStrike" cap="none" dirty="0">
                <a:solidFill>
                  <a:srgbClr val="444444"/>
                </a:solidFill>
                <a:latin typeface="Lato"/>
                <a:ea typeface="Lato"/>
                <a:cs typeface="Lato"/>
                <a:sym typeface="Lato"/>
              </a:rPr>
              <a:t> Our organization exhibits a healthy gender balance compared to industry standards. The inclusion of </a:t>
            </a:r>
            <a:r>
              <a:rPr lang="en-US" sz="1500" b="1" i="0" u="none" strike="noStrike" cap="none" dirty="0">
                <a:solidFill>
                  <a:srgbClr val="6B007B"/>
                </a:solidFill>
                <a:latin typeface="Lato"/>
                <a:ea typeface="Lato"/>
                <a:cs typeface="Lato"/>
                <a:sym typeface="Lato"/>
              </a:rPr>
              <a:t>non conforming</a:t>
            </a:r>
            <a:r>
              <a:rPr lang="en-US" sz="1500" b="0" i="0" u="none" strike="noStrike" cap="none" dirty="0">
                <a:solidFill>
                  <a:srgbClr val="444444"/>
                </a:solidFill>
                <a:latin typeface="Lato"/>
                <a:ea typeface="Lato"/>
                <a:cs typeface="Lato"/>
                <a:sym typeface="Lato"/>
              </a:rPr>
              <a:t> identities (shown in yellow) reflects our commitment to a diverse environment that welcomes all perspectives. Future efforts should focus on maintaining this ratio in senior leadership.</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pic>
        <p:nvPicPr>
          <p:cNvPr id="172" name="Google Shape;172;p21" descr="image.png"/>
          <p:cNvPicPr preferRelativeResize="0"/>
          <p:nvPr/>
        </p:nvPicPr>
        <p:blipFill rotWithShape="1">
          <a:blip r:embed="rId3">
            <a:alphaModFix/>
          </a:blip>
          <a:srcRect/>
          <a:stretch/>
        </p:blipFill>
        <p:spPr>
          <a:xfrm>
            <a:off x="0" y="0"/>
            <a:ext cx="12192000" cy="76200"/>
          </a:xfrm>
          <a:prstGeom prst="rect">
            <a:avLst/>
          </a:prstGeom>
          <a:noFill/>
          <a:ln>
            <a:noFill/>
          </a:ln>
        </p:spPr>
      </p:pic>
      <p:pic>
        <p:nvPicPr>
          <p:cNvPr id="173" name="Google Shape;173;p21" descr="image.png"/>
          <p:cNvPicPr preferRelativeResize="0"/>
          <p:nvPr/>
        </p:nvPicPr>
        <p:blipFill rotWithShape="1">
          <a:blip r:embed="rId4">
            <a:alphaModFix/>
          </a:blip>
          <a:srcRect/>
          <a:stretch/>
        </p:blipFill>
        <p:spPr>
          <a:xfrm>
            <a:off x="762000" y="1957387"/>
            <a:ext cx="10668000" cy="4048125"/>
          </a:xfrm>
          <a:prstGeom prst="rect">
            <a:avLst/>
          </a:prstGeom>
          <a:noFill/>
          <a:ln>
            <a:noFill/>
          </a:ln>
        </p:spPr>
      </p:pic>
      <p:pic>
        <p:nvPicPr>
          <p:cNvPr id="174" name="Google Shape;174;p21" descr="image.png"/>
          <p:cNvPicPr preferRelativeResize="0"/>
          <p:nvPr/>
        </p:nvPicPr>
        <p:blipFill rotWithShape="1">
          <a:blip r:embed="rId5">
            <a:alphaModFix/>
          </a:blip>
          <a:srcRect/>
          <a:stretch/>
        </p:blipFill>
        <p:spPr>
          <a:xfrm>
            <a:off x="6381750" y="2428875"/>
            <a:ext cx="5048250" cy="3295650"/>
          </a:xfrm>
          <a:prstGeom prst="rect">
            <a:avLst/>
          </a:prstGeom>
          <a:noFill/>
          <a:ln>
            <a:noFill/>
          </a:ln>
        </p:spPr>
      </p:pic>
      <p:sp>
        <p:nvSpPr>
          <p:cNvPr id="175" name="Google Shape;175;p21"/>
          <p:cNvSpPr txBox="1"/>
          <p:nvPr/>
        </p:nvSpPr>
        <p:spPr>
          <a:xfrm>
            <a:off x="762000" y="571500"/>
            <a:ext cx="112014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6B007B"/>
                </a:solidFill>
                <a:latin typeface="Poppins SemiBold"/>
                <a:ea typeface="Poppins SemiBold"/>
                <a:cs typeface="Poppins SemiBold"/>
                <a:sym typeface="Poppins SemiBold"/>
              </a:rPr>
              <a:t>WORKFORCE ETHNIC COMPOSITION</a:t>
            </a:r>
            <a:endParaRPr/>
          </a:p>
        </p:txBody>
      </p:sp>
      <p:sp>
        <p:nvSpPr>
          <p:cNvPr id="176" name="Google Shape;176;p21"/>
          <p:cNvSpPr/>
          <p:nvPr/>
        </p:nvSpPr>
        <p:spPr>
          <a:xfrm>
            <a:off x="762000" y="1266825"/>
            <a:ext cx="10668000" cy="28575"/>
          </a:xfrm>
          <a:prstGeom prst="rect">
            <a:avLst/>
          </a:prstGeom>
          <a:solidFill>
            <a:srgbClr val="F3B4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21"/>
          <p:cNvSpPr txBox="1"/>
          <p:nvPr/>
        </p:nvSpPr>
        <p:spPr>
          <a:xfrm>
            <a:off x="6724650" y="2905125"/>
            <a:ext cx="4419600" cy="2438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6B007B"/>
                </a:solidFill>
                <a:latin typeface="Lato"/>
                <a:ea typeface="Lato"/>
                <a:cs typeface="Lato"/>
                <a:sym typeface="Lato"/>
              </a:rPr>
              <a:t>Strategic Summary:</a:t>
            </a:r>
            <a:r>
              <a:rPr lang="en-US" sz="1500" b="0" i="0" u="none" strike="noStrike" cap="none">
                <a:solidFill>
                  <a:srgbClr val="444444"/>
                </a:solidFill>
                <a:latin typeface="Lato"/>
                <a:ea typeface="Lato"/>
                <a:cs typeface="Lato"/>
                <a:sym typeface="Lato"/>
              </a:rPr>
              <a:t> Our racial distribution highlights a global mindset with a strong majority of White and Black/African American employees. This diverse base is a key driver for our innovative culture. Utilizing specific 3D analysis helps us visualize our competitive advantage in cultural intelligence while identifying opportunities to increase Asian and Hispanic representation to match market trends.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1"/>
        <p:cNvGrpSpPr/>
        <p:nvPr/>
      </p:nvGrpSpPr>
      <p:grpSpPr>
        <a:xfrm>
          <a:off x="0" y="0"/>
          <a:ext cx="0" cy="0"/>
          <a:chOff x="0" y="0"/>
          <a:chExt cx="0" cy="0"/>
        </a:xfrm>
      </p:grpSpPr>
      <p:pic>
        <p:nvPicPr>
          <p:cNvPr id="182" name="Google Shape;182;p22" descr="image.png"/>
          <p:cNvPicPr preferRelativeResize="0"/>
          <p:nvPr/>
        </p:nvPicPr>
        <p:blipFill rotWithShape="1">
          <a:blip r:embed="rId3">
            <a:alphaModFix/>
          </a:blip>
          <a:srcRect/>
          <a:stretch/>
        </p:blipFill>
        <p:spPr>
          <a:xfrm>
            <a:off x="0" y="0"/>
            <a:ext cx="12192000" cy="76200"/>
          </a:xfrm>
          <a:prstGeom prst="rect">
            <a:avLst/>
          </a:prstGeom>
          <a:noFill/>
          <a:ln>
            <a:noFill/>
          </a:ln>
        </p:spPr>
      </p:pic>
      <p:pic>
        <p:nvPicPr>
          <p:cNvPr id="183" name="Google Shape;183;p22" descr="image.png"/>
          <p:cNvPicPr preferRelativeResize="0"/>
          <p:nvPr/>
        </p:nvPicPr>
        <p:blipFill rotWithShape="1">
          <a:blip r:embed="rId4">
            <a:alphaModFix/>
          </a:blip>
          <a:srcRect/>
          <a:stretch/>
        </p:blipFill>
        <p:spPr>
          <a:xfrm>
            <a:off x="121325" y="793251"/>
            <a:ext cx="11877449" cy="6064750"/>
          </a:xfrm>
          <a:prstGeom prst="rect">
            <a:avLst/>
          </a:prstGeom>
          <a:noFill/>
          <a:ln>
            <a:noFill/>
          </a:ln>
        </p:spPr>
      </p:pic>
      <p:pic>
        <p:nvPicPr>
          <p:cNvPr id="184" name="Google Shape;184;p22" descr="image.png"/>
          <p:cNvPicPr preferRelativeResize="0"/>
          <p:nvPr/>
        </p:nvPicPr>
        <p:blipFill rotWithShape="1">
          <a:blip r:embed="rId5">
            <a:alphaModFix/>
          </a:blip>
          <a:srcRect/>
          <a:stretch/>
        </p:blipFill>
        <p:spPr>
          <a:xfrm>
            <a:off x="121325" y="5295900"/>
            <a:ext cx="12034350" cy="1488000"/>
          </a:xfrm>
          <a:prstGeom prst="rect">
            <a:avLst/>
          </a:prstGeom>
          <a:noFill/>
          <a:ln>
            <a:noFill/>
          </a:ln>
        </p:spPr>
      </p:pic>
      <p:sp>
        <p:nvSpPr>
          <p:cNvPr id="185" name="Google Shape;185;p22"/>
          <p:cNvSpPr txBox="1"/>
          <p:nvPr/>
        </p:nvSpPr>
        <p:spPr>
          <a:xfrm>
            <a:off x="762000" y="1923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6B007B"/>
                </a:solidFill>
                <a:latin typeface="Poppins SemiBold"/>
                <a:ea typeface="Poppins SemiBold"/>
                <a:cs typeface="Poppins SemiBold"/>
                <a:sym typeface="Poppins SemiBold"/>
              </a:rPr>
              <a:t>YEAR-ON-YEAR GROWTH TRENDS</a:t>
            </a:r>
            <a:endParaRPr/>
          </a:p>
        </p:txBody>
      </p:sp>
      <p:sp>
        <p:nvSpPr>
          <p:cNvPr id="186" name="Google Shape;186;p22"/>
          <p:cNvSpPr/>
          <p:nvPr/>
        </p:nvSpPr>
        <p:spPr>
          <a:xfrm>
            <a:off x="762000" y="1266825"/>
            <a:ext cx="10668000" cy="28575"/>
          </a:xfrm>
          <a:prstGeom prst="rect">
            <a:avLst/>
          </a:prstGeom>
          <a:solidFill>
            <a:srgbClr val="F3B4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22"/>
          <p:cNvSpPr txBox="1"/>
          <p:nvPr/>
        </p:nvSpPr>
        <p:spPr>
          <a:xfrm>
            <a:off x="231000" y="5399500"/>
            <a:ext cx="116304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6B007B"/>
                </a:solidFill>
                <a:latin typeface="Lato"/>
                <a:ea typeface="Lato"/>
                <a:cs typeface="Lato"/>
                <a:sym typeface="Lato"/>
              </a:rPr>
              <a:t>Insight Summary:</a:t>
            </a:r>
            <a:r>
              <a:rPr lang="en-US" sz="1500" b="0" i="0" u="none" strike="noStrike" cap="none">
                <a:solidFill>
                  <a:srgbClr val="444444"/>
                </a:solidFill>
                <a:latin typeface="Lato"/>
                <a:ea typeface="Lato"/>
                <a:cs typeface="Lato"/>
                <a:sym typeface="Lato"/>
              </a:rPr>
              <a:t> We observed a 40% acceleration in hiring between 2017 and 2021. The upward trajectory indicates a robust hiring pipeline and high market demand. Scaling recruitment infrastructures has successfully transitioned early stability into rapid growth, maintaining high retention across all new cohorts.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1"/>
        <p:cNvGrpSpPr/>
        <p:nvPr/>
      </p:nvGrpSpPr>
      <p:grpSpPr>
        <a:xfrm>
          <a:off x="0" y="0"/>
          <a:ext cx="0" cy="0"/>
          <a:chOff x="0" y="0"/>
          <a:chExt cx="0" cy="0"/>
        </a:xfrm>
      </p:grpSpPr>
      <p:pic>
        <p:nvPicPr>
          <p:cNvPr id="192" name="Google Shape;192;p23" descr="image.png"/>
          <p:cNvPicPr preferRelativeResize="0"/>
          <p:nvPr/>
        </p:nvPicPr>
        <p:blipFill rotWithShape="1">
          <a:blip r:embed="rId3">
            <a:alphaModFix/>
          </a:blip>
          <a:srcRect/>
          <a:stretch/>
        </p:blipFill>
        <p:spPr>
          <a:xfrm>
            <a:off x="0" y="0"/>
            <a:ext cx="12192000" cy="76200"/>
          </a:xfrm>
          <a:prstGeom prst="rect">
            <a:avLst/>
          </a:prstGeom>
          <a:noFill/>
          <a:ln>
            <a:noFill/>
          </a:ln>
        </p:spPr>
      </p:pic>
      <p:pic>
        <p:nvPicPr>
          <p:cNvPr id="193" name="Google Shape;193;p23" descr="image.png"/>
          <p:cNvPicPr preferRelativeResize="0"/>
          <p:nvPr/>
        </p:nvPicPr>
        <p:blipFill rotWithShape="1">
          <a:blip r:embed="rId4">
            <a:alphaModFix/>
          </a:blip>
          <a:srcRect/>
          <a:stretch/>
        </p:blipFill>
        <p:spPr>
          <a:xfrm>
            <a:off x="761999" y="1841333"/>
            <a:ext cx="5189621" cy="4568992"/>
          </a:xfrm>
          <a:prstGeom prst="rect">
            <a:avLst/>
          </a:prstGeom>
          <a:noFill/>
          <a:ln>
            <a:noFill/>
          </a:ln>
        </p:spPr>
      </p:pic>
      <p:pic>
        <p:nvPicPr>
          <p:cNvPr id="194" name="Google Shape;194;p23" descr="image.png"/>
          <p:cNvPicPr preferRelativeResize="0"/>
          <p:nvPr/>
        </p:nvPicPr>
        <p:blipFill rotWithShape="1">
          <a:blip r:embed="rId5">
            <a:alphaModFix/>
          </a:blip>
          <a:srcRect/>
          <a:stretch/>
        </p:blipFill>
        <p:spPr>
          <a:xfrm>
            <a:off x="6362700" y="1996202"/>
            <a:ext cx="5581650" cy="4414123"/>
          </a:xfrm>
          <a:prstGeom prst="rect">
            <a:avLst/>
          </a:prstGeom>
          <a:noFill/>
          <a:ln>
            <a:noFill/>
          </a:ln>
        </p:spPr>
      </p:pic>
      <p:sp>
        <p:nvSpPr>
          <p:cNvPr id="195" name="Google Shape;195;p23"/>
          <p:cNvSpPr txBox="1"/>
          <p:nvPr/>
        </p:nvSpPr>
        <p:spPr>
          <a:xfrm>
            <a:off x="762000" y="571500"/>
            <a:ext cx="112014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6B007B"/>
                </a:solidFill>
                <a:latin typeface="Poppins SemiBold"/>
                <a:ea typeface="Poppins SemiBold"/>
                <a:cs typeface="Poppins SemiBold"/>
                <a:sym typeface="Poppins SemiBold"/>
              </a:rPr>
              <a:t>CONCLUSION &amp; STRATEGIC PATH</a:t>
            </a:r>
            <a:endParaRPr/>
          </a:p>
        </p:txBody>
      </p:sp>
      <p:sp>
        <p:nvSpPr>
          <p:cNvPr id="196" name="Google Shape;196;p23"/>
          <p:cNvSpPr/>
          <p:nvPr/>
        </p:nvSpPr>
        <p:spPr>
          <a:xfrm>
            <a:off x="762000" y="1266825"/>
            <a:ext cx="10668000" cy="28575"/>
          </a:xfrm>
          <a:prstGeom prst="rect">
            <a:avLst/>
          </a:prstGeom>
          <a:solidFill>
            <a:srgbClr val="F3B4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8" name="Google Shape;198;p23"/>
          <p:cNvSpPr txBox="1"/>
          <p:nvPr/>
        </p:nvSpPr>
        <p:spPr>
          <a:xfrm>
            <a:off x="1181100" y="2341896"/>
            <a:ext cx="464058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6B007B"/>
                </a:solidFill>
                <a:latin typeface="Poppins"/>
                <a:ea typeface="Poppins"/>
                <a:cs typeface="Poppins"/>
                <a:sym typeface="Poppins"/>
              </a:rPr>
              <a:t>Main Findings</a:t>
            </a:r>
            <a:endParaRPr dirty="0"/>
          </a:p>
        </p:txBody>
      </p:sp>
      <p:sp>
        <p:nvSpPr>
          <p:cNvPr id="199" name="Google Shape;199;p23"/>
          <p:cNvSpPr txBox="1"/>
          <p:nvPr/>
        </p:nvSpPr>
        <p:spPr>
          <a:xfrm>
            <a:off x="6644439" y="2437732"/>
            <a:ext cx="464058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dirty="0">
                <a:solidFill>
                  <a:srgbClr val="6B007B"/>
                </a:solidFill>
                <a:latin typeface="Poppins"/>
                <a:ea typeface="Poppins"/>
                <a:cs typeface="Poppins"/>
                <a:sym typeface="Poppins"/>
              </a:rPr>
              <a:t>Recommendations</a:t>
            </a:r>
            <a:endParaRPr dirty="0"/>
          </a:p>
        </p:txBody>
      </p:sp>
      <p:sp>
        <p:nvSpPr>
          <p:cNvPr id="200" name="Google Shape;200;p23"/>
          <p:cNvSpPr txBox="1"/>
          <p:nvPr/>
        </p:nvSpPr>
        <p:spPr>
          <a:xfrm>
            <a:off x="1181100" y="3167062"/>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t>
            </a:r>
            <a:endParaRPr/>
          </a:p>
        </p:txBody>
      </p:sp>
      <p:sp>
        <p:nvSpPr>
          <p:cNvPr id="201" name="Google Shape;201;p23"/>
          <p:cNvSpPr txBox="1"/>
          <p:nvPr/>
        </p:nvSpPr>
        <p:spPr>
          <a:xfrm>
            <a:off x="1386840" y="2869029"/>
            <a:ext cx="4434840" cy="1107996"/>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rgbClr val="6B007B"/>
                </a:solidFill>
                <a:latin typeface="Lato"/>
                <a:ea typeface="Lato"/>
                <a:cs typeface="Lato"/>
                <a:sym typeface="Lato"/>
              </a:rPr>
              <a:t>Our Team:</a:t>
            </a:r>
            <a:r>
              <a:rPr lang="en-US" sz="1500" b="0" i="0" u="none" strike="noStrike" cap="none" dirty="0">
                <a:solidFill>
                  <a:srgbClr val="444444"/>
                </a:solidFill>
                <a:latin typeface="Lato"/>
                <a:ea typeface="Lato"/>
                <a:cs typeface="Lato"/>
                <a:sym typeface="Lato"/>
              </a:rPr>
              <a:t> Total active workforce consists of </a:t>
            </a:r>
            <a:r>
              <a:rPr lang="en-US" sz="1500" b="1" i="0" u="none" strike="noStrike" cap="none" dirty="0">
                <a:solidFill>
                  <a:srgbClr val="6B007B"/>
                </a:solidFill>
                <a:latin typeface="Lato"/>
                <a:ea typeface="Lato"/>
                <a:cs typeface="Lato"/>
                <a:sym typeface="Lato"/>
              </a:rPr>
              <a:t>1,000+ staff members</a:t>
            </a:r>
            <a:r>
              <a:rPr lang="en-US" sz="1500" b="0" i="0" u="none" strike="noStrike" cap="none" dirty="0">
                <a:solidFill>
                  <a:srgbClr val="444444"/>
                </a:solidFill>
                <a:latin typeface="Lato"/>
                <a:ea typeface="Lato"/>
                <a:cs typeface="Lato"/>
                <a:sym typeface="Lato"/>
              </a:rPr>
              <a:t>, growing consistently year-over-year.</a:t>
            </a:r>
            <a:endParaRPr dirty="0"/>
          </a:p>
        </p:txBody>
      </p:sp>
      <p:sp>
        <p:nvSpPr>
          <p:cNvPr id="202" name="Google Shape;202;p23"/>
          <p:cNvSpPr txBox="1"/>
          <p:nvPr/>
        </p:nvSpPr>
        <p:spPr>
          <a:xfrm>
            <a:off x="1181100" y="4081462"/>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t>
            </a:r>
            <a:endParaRPr/>
          </a:p>
        </p:txBody>
      </p:sp>
      <p:sp>
        <p:nvSpPr>
          <p:cNvPr id="203" name="Google Shape;203;p23"/>
          <p:cNvSpPr txBox="1"/>
          <p:nvPr/>
        </p:nvSpPr>
        <p:spPr>
          <a:xfrm>
            <a:off x="1295400" y="4081462"/>
            <a:ext cx="4229100" cy="609600"/>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444444"/>
                </a:solidFill>
                <a:latin typeface="Lato"/>
                <a:ea typeface="Lato"/>
                <a:cs typeface="Lato"/>
                <a:sym typeface="Lato"/>
              </a:rPr>
              <a:t>Diversity remains a core strength, particularly in functional departments like Legal and HR.</a:t>
            </a:r>
            <a:endParaRPr dirty="0"/>
          </a:p>
        </p:txBody>
      </p:sp>
      <p:sp>
        <p:nvSpPr>
          <p:cNvPr id="204" name="Google Shape;204;p23"/>
          <p:cNvSpPr txBox="1"/>
          <p:nvPr/>
        </p:nvSpPr>
        <p:spPr>
          <a:xfrm>
            <a:off x="1181100" y="4691062"/>
            <a:ext cx="114300"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t>
            </a:r>
            <a:endParaRPr/>
          </a:p>
        </p:txBody>
      </p:sp>
      <p:sp>
        <p:nvSpPr>
          <p:cNvPr id="205" name="Google Shape;205;p23"/>
          <p:cNvSpPr txBox="1"/>
          <p:nvPr/>
        </p:nvSpPr>
        <p:spPr>
          <a:xfrm>
            <a:off x="1295400" y="4691062"/>
            <a:ext cx="4229100" cy="609600"/>
          </a:xfrm>
          <a:prstGeom prst="rect">
            <a:avLst/>
          </a:prstGeom>
          <a:noFill/>
          <a:ln>
            <a:noFill/>
          </a:ln>
        </p:spPr>
        <p:txBody>
          <a:bodyPr spcFirstLastPara="1" wrap="square" lIns="11430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444444"/>
                </a:solidFill>
                <a:latin typeface="Lato"/>
                <a:ea typeface="Lato"/>
                <a:cs typeface="Lato"/>
                <a:sym typeface="Lato"/>
              </a:rPr>
              <a:t>Engineering is the primary vertical for technical skill sets and product development.</a:t>
            </a:r>
            <a:endParaRPr dirty="0"/>
          </a:p>
        </p:txBody>
      </p:sp>
      <p:sp>
        <p:nvSpPr>
          <p:cNvPr id="206" name="Google Shape;206;p23"/>
          <p:cNvSpPr txBox="1"/>
          <p:nvPr/>
        </p:nvSpPr>
        <p:spPr>
          <a:xfrm>
            <a:off x="6800850" y="3319462"/>
            <a:ext cx="1143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dirty="0"/>
          </a:p>
        </p:txBody>
      </p:sp>
      <p:sp>
        <p:nvSpPr>
          <p:cNvPr id="2" name="TextBox 1">
            <a:extLst>
              <a:ext uri="{FF2B5EF4-FFF2-40B4-BE49-F238E27FC236}">
                <a16:creationId xmlns:a16="http://schemas.microsoft.com/office/drawing/2014/main" id="{975D9F20-E8F4-3194-4735-397C85FD2FBF}"/>
              </a:ext>
            </a:extLst>
          </p:cNvPr>
          <p:cNvSpPr txBox="1"/>
          <p:nvPr/>
        </p:nvSpPr>
        <p:spPr>
          <a:xfrm>
            <a:off x="6986891" y="2763421"/>
            <a:ext cx="4383741" cy="304800"/>
          </a:xfrm>
          <a:prstGeom prst="rect">
            <a:avLst/>
          </a:prstGeom>
          <a:noFill/>
        </p:spPr>
        <p:txBody>
          <a:bodyPr wrap="square" rtlCol="0">
            <a:spAutoFit/>
          </a:bodyPr>
          <a:lstStyle/>
          <a:p>
            <a:r>
              <a:rPr lang="en-US" dirty="0"/>
              <a:t>Find new talent in different places (Diversity)</a:t>
            </a:r>
            <a:endParaRPr lang="en-IN" dirty="0"/>
          </a:p>
        </p:txBody>
      </p:sp>
      <p:sp>
        <p:nvSpPr>
          <p:cNvPr id="4" name="TextBox 3">
            <a:extLst>
              <a:ext uri="{FF2B5EF4-FFF2-40B4-BE49-F238E27FC236}">
                <a16:creationId xmlns:a16="http://schemas.microsoft.com/office/drawing/2014/main" id="{64F0582A-8664-68BB-9D6C-F59B8B8BD5F2}"/>
              </a:ext>
            </a:extLst>
          </p:cNvPr>
          <p:cNvSpPr txBox="1"/>
          <p:nvPr/>
        </p:nvSpPr>
        <p:spPr>
          <a:xfrm>
            <a:off x="7046258" y="3250745"/>
            <a:ext cx="4589929" cy="318567"/>
          </a:xfrm>
          <a:prstGeom prst="rect">
            <a:avLst/>
          </a:prstGeom>
          <a:noFill/>
        </p:spPr>
        <p:txBody>
          <a:bodyPr wrap="square" rtlCol="0">
            <a:spAutoFit/>
          </a:bodyPr>
          <a:lstStyle/>
          <a:p>
            <a:r>
              <a:rPr lang="en-US" dirty="0"/>
              <a:t>Check the "Health" of our team every month (Tracking)</a:t>
            </a:r>
            <a:endParaRPr lang="en-IN" dirty="0"/>
          </a:p>
        </p:txBody>
      </p:sp>
      <p:sp>
        <p:nvSpPr>
          <p:cNvPr id="6" name="TextBox 5">
            <a:extLst>
              <a:ext uri="{FF2B5EF4-FFF2-40B4-BE49-F238E27FC236}">
                <a16:creationId xmlns:a16="http://schemas.microsoft.com/office/drawing/2014/main" id="{83F9023E-DFFD-1F93-8E01-3A87D42CE0CB}"/>
              </a:ext>
            </a:extLst>
          </p:cNvPr>
          <p:cNvSpPr txBox="1"/>
          <p:nvPr/>
        </p:nvSpPr>
        <p:spPr>
          <a:xfrm>
            <a:off x="6986891" y="3775082"/>
            <a:ext cx="4383741" cy="523220"/>
          </a:xfrm>
          <a:prstGeom prst="rect">
            <a:avLst/>
          </a:prstGeom>
          <a:noFill/>
        </p:spPr>
        <p:txBody>
          <a:bodyPr wrap="square" rtlCol="0">
            <a:spAutoFit/>
          </a:bodyPr>
          <a:lstStyle/>
          <a:p>
            <a:r>
              <a:rPr lang="en-US" dirty="0"/>
              <a:t>Support our biggest departments (Engineering &amp; Services)</a:t>
            </a:r>
            <a:endParaRPr lang="en-IN" dirty="0"/>
          </a:p>
        </p:txBody>
      </p:sp>
      <p:sp>
        <p:nvSpPr>
          <p:cNvPr id="7" name="TextBox 6">
            <a:extLst>
              <a:ext uri="{FF2B5EF4-FFF2-40B4-BE49-F238E27FC236}">
                <a16:creationId xmlns:a16="http://schemas.microsoft.com/office/drawing/2014/main" id="{D5245891-11DE-9B55-29EB-95E98D7881D6}"/>
              </a:ext>
            </a:extLst>
          </p:cNvPr>
          <p:cNvSpPr txBox="1"/>
          <p:nvPr/>
        </p:nvSpPr>
        <p:spPr>
          <a:xfrm>
            <a:off x="7046258" y="4468412"/>
            <a:ext cx="4383741" cy="307777"/>
          </a:xfrm>
          <a:prstGeom prst="rect">
            <a:avLst/>
          </a:prstGeom>
          <a:noFill/>
        </p:spPr>
        <p:txBody>
          <a:bodyPr wrap="square" rtlCol="0">
            <a:spAutoFit/>
          </a:bodyPr>
          <a:lstStyle/>
          <a:p>
            <a:r>
              <a:rPr lang="en-US" dirty="0"/>
              <a:t>Keep the gender balance steady</a:t>
            </a:r>
            <a:endParaRPr lang="en-IN" dirty="0"/>
          </a:p>
        </p:txBody>
      </p:sp>
      <p:sp>
        <p:nvSpPr>
          <p:cNvPr id="8" name="TextBox 7">
            <a:extLst>
              <a:ext uri="{FF2B5EF4-FFF2-40B4-BE49-F238E27FC236}">
                <a16:creationId xmlns:a16="http://schemas.microsoft.com/office/drawing/2014/main" id="{9466149C-A5CA-6471-E47C-86504896C2E9}"/>
              </a:ext>
            </a:extLst>
          </p:cNvPr>
          <p:cNvSpPr txBox="1"/>
          <p:nvPr/>
        </p:nvSpPr>
        <p:spPr>
          <a:xfrm>
            <a:off x="6986891" y="5146773"/>
            <a:ext cx="4640580" cy="307777"/>
          </a:xfrm>
          <a:prstGeom prst="rect">
            <a:avLst/>
          </a:prstGeom>
          <a:noFill/>
        </p:spPr>
        <p:txBody>
          <a:bodyPr wrap="square" rtlCol="0">
            <a:spAutoFit/>
          </a:bodyPr>
          <a:lstStyle/>
          <a:p>
            <a:r>
              <a:rPr lang="en-US" dirty="0"/>
              <a:t>Help experienced workers grow (Mentorship)</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5"/>
        <p:cNvGrpSpPr/>
        <p:nvPr/>
      </p:nvGrpSpPr>
      <p:grpSpPr>
        <a:xfrm>
          <a:off x="0" y="0"/>
          <a:ext cx="0" cy="0"/>
          <a:chOff x="0" y="0"/>
          <a:chExt cx="0" cy="0"/>
        </a:xfrm>
      </p:grpSpPr>
      <p:pic>
        <p:nvPicPr>
          <p:cNvPr id="216" name="Google Shape;216;p24" descr="image.png"/>
          <p:cNvPicPr preferRelativeResize="0"/>
          <p:nvPr/>
        </p:nvPicPr>
        <p:blipFill rotWithShape="1">
          <a:blip r:embed="rId3">
            <a:alphaModFix/>
          </a:blip>
          <a:srcRect/>
          <a:stretch/>
        </p:blipFill>
        <p:spPr>
          <a:xfrm>
            <a:off x="0" y="0"/>
            <a:ext cx="12192000" cy="76200"/>
          </a:xfrm>
          <a:prstGeom prst="rect">
            <a:avLst/>
          </a:prstGeom>
          <a:noFill/>
          <a:ln>
            <a:noFill/>
          </a:ln>
        </p:spPr>
      </p:pic>
      <p:pic>
        <p:nvPicPr>
          <p:cNvPr id="217" name="Google Shape;217;p24" descr="image.png"/>
          <p:cNvPicPr preferRelativeResize="0"/>
          <p:nvPr/>
        </p:nvPicPr>
        <p:blipFill rotWithShape="1">
          <a:blip r:embed="rId4">
            <a:alphaModFix/>
          </a:blip>
          <a:srcRect/>
          <a:stretch/>
        </p:blipFill>
        <p:spPr>
          <a:xfrm>
            <a:off x="762000" y="2371725"/>
            <a:ext cx="3365450" cy="3219450"/>
          </a:xfrm>
          <a:prstGeom prst="rect">
            <a:avLst/>
          </a:prstGeom>
          <a:noFill/>
          <a:ln>
            <a:noFill/>
          </a:ln>
        </p:spPr>
      </p:pic>
      <p:pic>
        <p:nvPicPr>
          <p:cNvPr id="218" name="Google Shape;218;p24" descr="image.png"/>
          <p:cNvPicPr preferRelativeResize="0"/>
          <p:nvPr/>
        </p:nvPicPr>
        <p:blipFill rotWithShape="1">
          <a:blip r:embed="rId5">
            <a:alphaModFix/>
          </a:blip>
          <a:srcRect/>
          <a:stretch/>
        </p:blipFill>
        <p:spPr>
          <a:xfrm>
            <a:off x="4413200" y="2371725"/>
            <a:ext cx="3365450" cy="3219450"/>
          </a:xfrm>
          <a:prstGeom prst="rect">
            <a:avLst/>
          </a:prstGeom>
          <a:noFill/>
          <a:ln>
            <a:noFill/>
          </a:ln>
        </p:spPr>
      </p:pic>
      <p:pic>
        <p:nvPicPr>
          <p:cNvPr id="219" name="Google Shape;219;p24" descr="image.png"/>
          <p:cNvPicPr preferRelativeResize="0"/>
          <p:nvPr/>
        </p:nvPicPr>
        <p:blipFill rotWithShape="1">
          <a:blip r:embed="rId6">
            <a:alphaModFix/>
          </a:blip>
          <a:srcRect/>
          <a:stretch/>
        </p:blipFill>
        <p:spPr>
          <a:xfrm>
            <a:off x="8064400" y="2371725"/>
            <a:ext cx="3365450" cy="3219450"/>
          </a:xfrm>
          <a:prstGeom prst="rect">
            <a:avLst/>
          </a:prstGeom>
          <a:noFill/>
          <a:ln>
            <a:noFill/>
          </a:ln>
        </p:spPr>
      </p:pic>
      <p:sp>
        <p:nvSpPr>
          <p:cNvPr id="220" name="Google Shape;220;p24"/>
          <p:cNvSpPr txBox="1"/>
          <p:nvPr/>
        </p:nvSpPr>
        <p:spPr>
          <a:xfrm>
            <a:off x="762000" y="571500"/>
            <a:ext cx="112014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6B007B"/>
                </a:solidFill>
                <a:latin typeface="Poppins SemiBold"/>
                <a:ea typeface="Poppins SemiBold"/>
                <a:cs typeface="Poppins SemiBold"/>
                <a:sym typeface="Poppins SemiBold"/>
              </a:rPr>
              <a:t>TOOLS</a:t>
            </a:r>
            <a:endParaRPr/>
          </a:p>
        </p:txBody>
      </p:sp>
      <p:sp>
        <p:nvSpPr>
          <p:cNvPr id="221" name="Google Shape;221;p24"/>
          <p:cNvSpPr/>
          <p:nvPr/>
        </p:nvSpPr>
        <p:spPr>
          <a:xfrm>
            <a:off x="762000" y="1266825"/>
            <a:ext cx="10668000" cy="28575"/>
          </a:xfrm>
          <a:prstGeom prst="rect">
            <a:avLst/>
          </a:prstGeom>
          <a:solidFill>
            <a:srgbClr val="F3B4D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24"/>
          <p:cNvSpPr txBox="1"/>
          <p:nvPr/>
        </p:nvSpPr>
        <p:spPr>
          <a:xfrm>
            <a:off x="10772775" y="6410325"/>
            <a:ext cx="6572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B007B"/>
                </a:solidFill>
                <a:latin typeface="Lato"/>
                <a:ea typeface="Lato"/>
                <a:cs typeface="Lato"/>
                <a:sym typeface="Lato"/>
              </a:rPr>
              <a:t>Kesha Soni</a:t>
            </a:r>
            <a:endParaRPr/>
          </a:p>
        </p:txBody>
      </p:sp>
      <p:sp>
        <p:nvSpPr>
          <p:cNvPr id="223" name="Google Shape;223;p24"/>
          <p:cNvSpPr txBox="1"/>
          <p:nvPr/>
        </p:nvSpPr>
        <p:spPr>
          <a:xfrm>
            <a:off x="987902" y="3571875"/>
            <a:ext cx="2913645"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333333"/>
                </a:solidFill>
                <a:latin typeface="Poppins"/>
                <a:ea typeface="Poppins"/>
                <a:cs typeface="Poppins"/>
                <a:sym typeface="Poppins"/>
              </a:rPr>
              <a:t>Excel</a:t>
            </a:r>
            <a:endParaRPr/>
          </a:p>
        </p:txBody>
      </p:sp>
      <p:sp>
        <p:nvSpPr>
          <p:cNvPr id="224" name="Google Shape;224;p24"/>
          <p:cNvSpPr txBox="1"/>
          <p:nvPr/>
        </p:nvSpPr>
        <p:spPr>
          <a:xfrm>
            <a:off x="1057275" y="4095750"/>
            <a:ext cx="277490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44444"/>
                </a:solidFill>
                <a:latin typeface="Lato"/>
                <a:ea typeface="Lato"/>
                <a:cs typeface="Lato"/>
                <a:sym typeface="Lato"/>
              </a:rPr>
              <a:t>Used for organizing raw data and ensuring accuracy before analysis.</a:t>
            </a:r>
            <a:endParaRPr/>
          </a:p>
        </p:txBody>
      </p:sp>
      <p:sp>
        <p:nvSpPr>
          <p:cNvPr id="225" name="Google Shape;225;p24"/>
          <p:cNvSpPr txBox="1"/>
          <p:nvPr/>
        </p:nvSpPr>
        <p:spPr>
          <a:xfrm>
            <a:off x="4639102" y="3571875"/>
            <a:ext cx="2913645"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333333"/>
                </a:solidFill>
                <a:latin typeface="Poppins"/>
                <a:ea typeface="Poppins"/>
                <a:cs typeface="Poppins"/>
                <a:sym typeface="Poppins"/>
              </a:rPr>
              <a:t>Power BI</a:t>
            </a:r>
            <a:endParaRPr/>
          </a:p>
        </p:txBody>
      </p:sp>
      <p:sp>
        <p:nvSpPr>
          <p:cNvPr id="226" name="Google Shape;226;p24"/>
          <p:cNvSpPr txBox="1"/>
          <p:nvPr/>
        </p:nvSpPr>
        <p:spPr>
          <a:xfrm>
            <a:off x="4708475" y="4095750"/>
            <a:ext cx="277490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44444"/>
                </a:solidFill>
                <a:latin typeface="Lato"/>
                <a:ea typeface="Lato"/>
                <a:cs typeface="Lato"/>
                <a:sym typeface="Lato"/>
              </a:rPr>
              <a:t>Main tool for creating interactive charts and visual dashboards.</a:t>
            </a:r>
            <a:endParaRPr/>
          </a:p>
        </p:txBody>
      </p:sp>
      <p:sp>
        <p:nvSpPr>
          <p:cNvPr id="227" name="Google Shape;227;p24"/>
          <p:cNvSpPr txBox="1"/>
          <p:nvPr/>
        </p:nvSpPr>
        <p:spPr>
          <a:xfrm>
            <a:off x="8290303" y="3571875"/>
            <a:ext cx="2913645"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333333"/>
                </a:solidFill>
                <a:latin typeface="Poppins"/>
                <a:ea typeface="Poppins"/>
                <a:cs typeface="Poppins"/>
                <a:sym typeface="Poppins"/>
              </a:rPr>
              <a:t>SQL</a:t>
            </a:r>
            <a:endParaRPr/>
          </a:p>
        </p:txBody>
      </p:sp>
      <p:sp>
        <p:nvSpPr>
          <p:cNvPr id="228" name="Google Shape;228;p24"/>
          <p:cNvSpPr txBox="1"/>
          <p:nvPr/>
        </p:nvSpPr>
        <p:spPr>
          <a:xfrm>
            <a:off x="8359675" y="4095750"/>
            <a:ext cx="2774900" cy="914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444444"/>
                </a:solidFill>
                <a:latin typeface="Lato"/>
                <a:ea typeface="Lato"/>
                <a:cs typeface="Lato"/>
                <a:sym typeface="Lato"/>
              </a:rPr>
              <a:t>Used to query the database and extract specific data for this report.</a:t>
            </a:r>
            <a:endParaRPr/>
          </a:p>
        </p:txBody>
      </p:sp>
      <p:pic>
        <p:nvPicPr>
          <p:cNvPr id="229" name="Google Shape;229;p24" descr="image.png"/>
          <p:cNvPicPr preferRelativeResize="0"/>
          <p:nvPr/>
        </p:nvPicPr>
        <p:blipFill rotWithShape="1">
          <a:blip r:embed="rId7">
            <a:alphaModFix/>
          </a:blip>
          <a:srcRect/>
          <a:stretch/>
        </p:blipFill>
        <p:spPr>
          <a:xfrm>
            <a:off x="2263675" y="2809875"/>
            <a:ext cx="361950" cy="476250"/>
          </a:xfrm>
          <a:prstGeom prst="rect">
            <a:avLst/>
          </a:prstGeom>
          <a:noFill/>
          <a:ln>
            <a:noFill/>
          </a:ln>
        </p:spPr>
      </p:pic>
      <p:pic>
        <p:nvPicPr>
          <p:cNvPr id="230" name="Google Shape;230;p24" descr="image.png"/>
          <p:cNvPicPr preferRelativeResize="0"/>
          <p:nvPr/>
        </p:nvPicPr>
        <p:blipFill rotWithShape="1">
          <a:blip r:embed="rId8">
            <a:alphaModFix/>
          </a:blip>
          <a:srcRect/>
          <a:stretch/>
        </p:blipFill>
        <p:spPr>
          <a:xfrm>
            <a:off x="5857726" y="2809875"/>
            <a:ext cx="476250" cy="476250"/>
          </a:xfrm>
          <a:prstGeom prst="rect">
            <a:avLst/>
          </a:prstGeom>
          <a:noFill/>
          <a:ln>
            <a:noFill/>
          </a:ln>
        </p:spPr>
      </p:pic>
      <p:pic>
        <p:nvPicPr>
          <p:cNvPr id="231" name="Google Shape;231;p24" descr="image.png"/>
          <p:cNvPicPr preferRelativeResize="0"/>
          <p:nvPr/>
        </p:nvPicPr>
        <p:blipFill rotWithShape="1">
          <a:blip r:embed="rId9">
            <a:alphaModFix/>
          </a:blip>
          <a:srcRect/>
          <a:stretch/>
        </p:blipFill>
        <p:spPr>
          <a:xfrm>
            <a:off x="9537501" y="2809875"/>
            <a:ext cx="419100" cy="476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2F9"/>
        </a:solidFill>
        <a:effectLst/>
      </p:bgPr>
    </p:bg>
    <p:spTree>
      <p:nvGrpSpPr>
        <p:cNvPr id="1" name="Shape 235"/>
        <p:cNvGrpSpPr/>
        <p:nvPr/>
      </p:nvGrpSpPr>
      <p:grpSpPr>
        <a:xfrm>
          <a:off x="0" y="0"/>
          <a:ext cx="0" cy="0"/>
          <a:chOff x="0" y="0"/>
          <a:chExt cx="0" cy="0"/>
        </a:xfrm>
      </p:grpSpPr>
      <p:pic>
        <p:nvPicPr>
          <p:cNvPr id="236" name="Google Shape;236;p25" descr="image.png"/>
          <p:cNvPicPr preferRelativeResize="0"/>
          <p:nvPr/>
        </p:nvPicPr>
        <p:blipFill rotWithShape="1">
          <a:blip r:embed="rId3">
            <a:alphaModFix/>
          </a:blip>
          <a:srcRect/>
          <a:stretch/>
        </p:blipFill>
        <p:spPr>
          <a:xfrm>
            <a:off x="0" y="0"/>
            <a:ext cx="12192000" cy="76200"/>
          </a:xfrm>
          <a:prstGeom prst="rect">
            <a:avLst/>
          </a:prstGeom>
          <a:noFill/>
          <a:ln>
            <a:noFill/>
          </a:ln>
        </p:spPr>
      </p:pic>
      <p:sp>
        <p:nvSpPr>
          <p:cNvPr id="237" name="Google Shape;237;p25"/>
          <p:cNvSpPr txBox="1"/>
          <p:nvPr/>
        </p:nvSpPr>
        <p:spPr>
          <a:xfrm>
            <a:off x="495300" y="1596479"/>
            <a:ext cx="11201400" cy="1005780"/>
          </a:xfrm>
          <a:prstGeom prst="rect">
            <a:avLst/>
          </a:prstGeom>
          <a:noFill/>
          <a:ln>
            <a:noFill/>
          </a:ln>
        </p:spPr>
        <p:txBody>
          <a:bodyPr spcFirstLastPara="1" wrap="square" lIns="0" tIns="0" rIns="0" bIns="0" anchor="t" anchorCtr="0">
            <a:spAutoFit/>
          </a:bodyPr>
          <a:lstStyle/>
          <a:p>
            <a:pPr marL="0" marR="0" lvl="0" indent="0" algn="ctr" rtl="0">
              <a:lnSpc>
                <a:spcPct val="109986"/>
              </a:lnSpc>
              <a:spcBef>
                <a:spcPts val="0"/>
              </a:spcBef>
              <a:spcAft>
                <a:spcPts val="0"/>
              </a:spcAft>
              <a:buNone/>
            </a:pPr>
            <a:r>
              <a:rPr lang="en-US" sz="7200" b="1" i="0" u="none" strike="noStrike" cap="none">
                <a:solidFill>
                  <a:srgbClr val="6B007B"/>
                </a:solidFill>
                <a:latin typeface="Poppins"/>
                <a:ea typeface="Poppins"/>
                <a:cs typeface="Poppins"/>
                <a:sym typeface="Poppins"/>
              </a:rPr>
              <a:t>Thank You!</a:t>
            </a:r>
            <a:endParaRPr/>
          </a:p>
        </p:txBody>
      </p:sp>
      <p:sp>
        <p:nvSpPr>
          <p:cNvPr id="238" name="Google Shape;238;p25"/>
          <p:cNvSpPr txBox="1"/>
          <p:nvPr/>
        </p:nvSpPr>
        <p:spPr>
          <a:xfrm>
            <a:off x="762000" y="2792759"/>
            <a:ext cx="10668000" cy="2154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2712</TotalTime>
  <Words>578</Words>
  <Application>Microsoft Office PowerPoint</Application>
  <PresentationFormat>Widescreen</PresentationFormat>
  <Paragraphs>59</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Poppins</vt:lpstr>
      <vt:lpstr>Lato</vt:lpstr>
      <vt:lpstr>Arial</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Kesha Soni</cp:lastModifiedBy>
  <cp:revision>6</cp:revision>
  <dcterms:modified xsi:type="dcterms:W3CDTF">2026-05-15T11:14:24Z</dcterms:modified>
</cp:coreProperties>
</file>